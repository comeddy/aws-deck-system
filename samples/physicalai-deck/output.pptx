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AWS Korea의 김영진입니다. 오늘은 'Physical AI on AWS'라는 주제로 말씀드리고자 합니다. Foundation Model의 발전이 시뮬레이션과 로보틱스 영역까지 확장되면서 완전히 새로운 산업 표준이 만들어지고 있는 시점입니다. 이 자리에서는 데이터 파이프라인, VLA 학습, 시뮬레이션 환경, Sim-to-Real, 그리고 한국 NPU 생태계까지 다루겠습니다. 끝까지 함께해 주시면 감사하겠습니다.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섹션에서는 왜 지금이 Physical AI에 주목해야 할 시점인지 살펴보겠습니다. Foundation Model의 발전, 시뮬레이션 인프라의 성숙, 양산형 휴머노이드의 등장이라는 세 가지 흐름이 동시에 수렴하고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로보틱스의 65년 발전사를 압축적으로 보여드립니다. 왼쪽 '축적의 시간'은 1959년 Unimate부터 2020년까지의 점진적 발전입니다. 이 60년 동안은 공장 자동화 중심의 발전과 ROS 같은 SW 표준화가 이뤄졌습니다. 오른쪽 '압축의 시간'은 2021년 이후 단 5년 만에 일어난 폭발적 변화입니다. GPT 등장 이후 Vision-Language-Action 모델, 즉 VLA가 빠르게 부상했고 Tesla, Figure, Unitree가 양산 단계에 진입했습니다. 국내에서도 두산로보틱스와 HD현대가 본격 투자를 시작했습니다. 이 압축의 시간을 가능하게 한 핵심 동력이 다음 슬라이드들에서 다룰 시뮬레이션 인프라입니다.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2026년 양산 단계에 진입한 휴머노이드 로봇 5종을 보여드립니다. 왼쪽부터 Tesla Optimus Gen 3는 범용 가사 및 노동을 타깃으로 $20K 목표가입니다. Figure 02는 BMW와의 협력으로 산업 자동화에서 검증되고 있습니다. Unitree G1은 $16K라는 압도적 가격으로 연구·교육 시장을 공략합니다. 현대차 그룹은 Boston Dynamics 인수 후 첫 양산 휴머노이드인 All-Electric Atlas를 한국에서 진행합니다. 1X NEO Gamma는 OpenAI 투자를 받아 가정용 휴머노이드라는 새 카테고리를 개척합니다. 공통적으로 2026년이 양산 원년이며 가격대는 $16K-$30K입니다. 다음 섹션에서는 이 휴머노이드들을 학습시키는 시뮬레이션 인프라를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섹션에서는 Physical AI 학습의 핵심인 시뮬레이션 스택을 살펴보겠습니다. 실제 로봇 학습 전 가상 환경에서 시행착오를 거치는 것이 사고 비용을 줄이고 학습 속도를 높이는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슬라이드에서는 대표 시뮬레이터 3종을 비교해 보겠습니다. 왼쪽 Isaac Sim은 NVIDIA Omniverse 기반으로 GPU 병렬화가 가장 강력합니다. 단일 머신에서 1만 개 환경을 병렬 실행할 수 있어 학습 속도가 비약적으로 빨라집니다. 가운데 Genesis는 2024년 등장한 오픈소스로 PyTorch 네이티브와 압도적 throughput으로 학계·스타트업이 선호합니다. 오른쪽 MuJoCo는 Google DeepMind가 인수한 20년 검증된 솔버로 RL 논문의 사실상 표준입니다. 세 시뮬레이터 모두 AWS EC2 G6e/G7e 또는 SageMaker HyperPod에서 실행 가능하며 프로젝트 성격에 따라 선택하시면 됩니다. 다음 슬라이드에서는 AWS의 Physical AI 전체 아키텍처를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Physical AI Flywheel 전체 그림을 보여드립니다. 위쪽 4단계는 데이터 수집, 학습, 시뮬, 배포라는 반복 사이클입니다. 아래쪽은 각 단계를 받쳐주는 AWS 서비스를 정리한 것입니다. 데이터 레이어에서는 S3가 페타바이트급 raw 센서 데이터를 저장하고 Glue가 ETL과 라벨링을 처리합니다. 학습 단계는 SageMaker HyperPod와 EC2 P5e로 VLA 모델을 fine-tune합니다. 배포 단계는 IoT Greengrass와 Bedrock AgentCore로 엣지에 모델을 전달합니다. 한국 파트너인 Nota AI, Furiosa, DeepX, Mobilint의 NPU 양자화로 엣지 추론 latency를 10ms 이하로 압축합니다. 이 모든 단계가 AWS 안에서 단일 통합 환경으로 제공되는 것이 핵심 차별화입니다.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슬라이드에서는 VLA 아키텍처의 두 큰 갈래를 비교해 보겠습니다. 왼쪽 Modular Architecture는 인지·계획·제어를 별도 모듈로 분리하는 전통적 방식입니다. 각 모듈을 독립 검증할 수 있어 ISO 26262 같은 안전 인증이 용이하며 Waymo, Cruise, 국내 자율주행 업체가 채택합니다. 오른쪽 End-to-End VLA는 픽셀에서 액션까지를 단일 신경망으로 처리하는 Foundation Model 접근입니다. GR00T N1, Google RT-2, Figure Helix가 대표적이며 데이터가 많을 때 일반화가 뛰어납니다. 현재 자율주행은 60%가 Modular이지만 신규 휴머노이드는 70% 이상이 E2E입니다. 최근 양산 트렌드는 두 접근의 장점을 결합한 Hybrid로 수렴하고 있습니다. 다음 섹션에서는 Sim-to-Real의 실무적 도전들을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섹션은 시뮬에서 학습한 정책을 실제 로봇으로 옮기는 Sim-to-Real과 엣지 배포의 실무적 도전, 그리고 한국 파트너 생태계를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Sim-to-Real 과정에서 자주 마주치는 6가지 실패 패턴을 카탈로그로 정리한 것입니다. 센서 노이즈, 조명 변화, 마찰계수 차이, 통신 지연, 동역학 모델 불일치, 그리고 분포 외 객체 OOD입니다. 각 사례마다 실제 배포 시 정책이 무너지는 원인이 됩니다. 오른쪽 'AWS 운영 대응' 박스는 이 갭을 메우는 4가지 표준 기법입니다. Isaac Lab의 Domain Randomization, Cosmos WFM 기반 합성 데이터, Real-to-Sim 피드백 루프, Hardware-in-the-Loop 검증입니다. 오른쪽 아래 인사이트가 핵심입니다. Sim-to-Real Gap의 80%는 데이터 다양성 부족에서 비롯되며 AWS Cosmos WFM과 GR00T 결합으로 이를 체계적으로 해소합니다. 다음 슬라이드에서는 한국 NPU 파트너 생태계를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한국 NPU와 모델 최적화 파트너 4사를 보여드립니다. Nota AI는 NetsPresso로 VLA 모델을 4-bit까지 양자화하면서 정확도 손실 2% 미만, 추론 속도 5배 향상을 달성합니다. FuriosaAI는 RNGD로 데이터센터급 150 TOPS를 60W TDP로 구현해 LLaMA·VLA 추론에 특화됩니다. DeepX는 DX-M1과 DX-M2로 5W급 엣지 NPU를 제공하며 휴머노이드 SoC 후보로도 거론됩니다. Mobilint는 30 TOPS를 3W에 구현해 ADAS와 로봇 비전에 적합합니다. 4사 모두 AWS Marketplace 통합 또는 EC2 통합이 검토·진행 중이며 한국 고객사는 이 생태계 덕분에 엣지 추론 latency를 10ms 이하로 압축할 수 있는 옵션을 확보하고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한국 Physical AI 도입의 4가지 대표 사례입니다. 왼쪽 패널이 전체 흐름을 요약합니다. 한국이 가진 60년 제조 노하우, 즉 '축적의 시간'이 AWS Physical AI 스택과 만나면서 빠르게 '압축의 시간'으로 전환되고 있습니다. 오른쪽 4개 사례입니다. 첫째, 현대차 그룹은 Boston Dynamics 인수 후 All-Electric Atlas의 첫 양산을 한국에서 진행합니다. 둘째, LG전자는 구미·창원 공장에서 비전 검사와 물류 로봇을 통합한 스마트팩토리를 운영합니다. 셋째, 두산로보틱스는 협동로봇에 GenAI와 VLA를 결합하는 차세대 모델을 개발 중입니다. 넷째, 코웨이는 가정용 정수기·공기청정기의 필터 관리와 자율 진단을 자동화합니다. 4사 모두 AWS 인프라를 100% 활용하며 현대차는 양산, 나머지는 POC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12페이지에 걸쳐 Physical AI on AWS의 전체 그림을 살펴보았습니다. 핵심 메시지는 시뮬·VLA 학습·Sim-to-Real·엣지 배포가 AWS 안에서 단일 통합 환경으로 제공되고 한국 NPU 생태계와 양산 고객 사례가 빠르게 결합되고 있다는 점입니다. 질문이나 추가로 논의하고 싶으신 부분이 있으시면 자유롭게 말씀해 주십시오.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1691640"/>
            <a:ext cx="7772400" cy="777240"/>
          </a:xfrm>
          <a:prstGeom prst="rect">
            <a:avLst/>
          </a:prstGeom>
          <a:noFill/>
          <a:ln/>
        </p:spPr>
        <p:txBody>
          <a:bodyPr wrap="square" lIns="0" tIns="0" rIns="0" bIns="0" rtlCol="0" anchor="ctr"/>
          <a:lstStyle/>
          <a:p>
            <a:pPr indent="0" marL="0">
              <a:buNone/>
            </a:pPr>
            <a:r>
              <a:rPr lang="en-US" sz="4400" b="1" spc="-150" kern="0" dirty="0">
                <a:solidFill>
                  <a:srgbClr val="FFFFFF"/>
                </a:solidFill>
                <a:latin typeface="Pretendard" pitchFamily="34" charset="0"/>
                <a:ea typeface="Pretendard" pitchFamily="34" charset="-122"/>
                <a:cs typeface="Pretendard" pitchFamily="34" charset="-120"/>
              </a:rPr>
              <a:t>Physical AI on AWS</a:t>
            </a:r>
            <a:endParaRPr lang="en-US" sz="4400" dirty="0"/>
          </a:p>
        </p:txBody>
      </p:sp>
      <p:sp>
        <p:nvSpPr>
          <p:cNvPr id="3" name="Text 1"/>
          <p:cNvSpPr/>
          <p:nvPr/>
        </p:nvSpPr>
        <p:spPr>
          <a:xfrm>
            <a:off x="384048" y="2423160"/>
            <a:ext cx="7772400" cy="502920"/>
          </a:xfrm>
          <a:prstGeom prst="rect">
            <a:avLst/>
          </a:prstGeom>
          <a:noFill/>
          <a:ln/>
        </p:spPr>
        <p:txBody>
          <a:bodyPr wrap="square" lIns="0" tIns="0" rIns="0" bIns="0" rtlCol="0" anchor="ctr"/>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From Simulation to Sim-to-Real Deployment</a:t>
            </a:r>
            <a:endParaRPr lang="en-US" sz="2600" dirty="0"/>
          </a:p>
        </p:txBody>
      </p:sp>
      <p:sp>
        <p:nvSpPr>
          <p:cNvPr id="4" name="Text 2"/>
          <p:cNvSpPr/>
          <p:nvPr/>
        </p:nvSpPr>
        <p:spPr>
          <a:xfrm>
            <a:off x="384048" y="3703320"/>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Youngjin Kim</a:t>
            </a:r>
            <a:endParaRPr lang="en-US" sz="1400" dirty="0"/>
          </a:p>
        </p:txBody>
      </p:sp>
      <p:sp>
        <p:nvSpPr>
          <p:cNvPr id="5" name="Text 3"/>
          <p:cNvSpPr/>
          <p:nvPr/>
        </p:nvSpPr>
        <p:spPr>
          <a:xfrm>
            <a:off x="384048" y="3950208"/>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Sr. Solutions Architect</a:t>
            </a:r>
            <a:endParaRPr lang="en-US" sz="1400" dirty="0"/>
          </a:p>
        </p:txBody>
      </p:sp>
      <p:sp>
        <p:nvSpPr>
          <p:cNvPr id="6" name="Text 4"/>
          <p:cNvSpPr/>
          <p:nvPr/>
        </p:nvSpPr>
        <p:spPr>
          <a:xfrm>
            <a:off x="384048" y="4197096"/>
            <a:ext cx="5486400" cy="274320"/>
          </a:xfrm>
          <a:prstGeom prst="rect">
            <a:avLst/>
          </a:prstGeom>
          <a:noFill/>
          <a:ln/>
        </p:spPr>
        <p:txBody>
          <a:bodyPr wrap="square" lIns="0" tIns="0" rIns="0" bIns="0" rtlCol="0" anchor="ctr"/>
          <a:lstStyle/>
          <a:p>
            <a:pPr indent="0" marL="0">
              <a:buNone/>
            </a:pPr>
            <a:r>
              <a:rPr lang="en-US" sz="1400" dirty="0">
                <a:solidFill>
                  <a:srgbClr val="E2E4EC"/>
                </a:solidFill>
                <a:latin typeface="Pretendard" pitchFamily="34" charset="0"/>
                <a:ea typeface="Pretendard" pitchFamily="34" charset="-122"/>
                <a:cs typeface="Pretendard" pitchFamily="34" charset="-120"/>
              </a:rPr>
              <a:t>AWS Korea</a:t>
            </a:r>
            <a:endParaRPr lang="en-US" sz="1400" dirty="0"/>
          </a:p>
        </p:txBody>
      </p:sp>
      <p:pic>
        <p:nvPicPr>
          <p:cNvPr id="7" name="Image 0" descr="/home/claude/aws_logo_white.png">    </p:cNvPr>
          <p:cNvPicPr>
            <a:picLocks noChangeAspect="1"/>
          </p:cNvPicPr>
          <p:nvPr/>
        </p:nvPicPr>
        <p:blipFill>
          <a:blip r:embed="rId2"/>
          <a:stretch>
            <a:fillRect/>
          </a:stretch>
        </p:blipFill>
        <p:spPr>
          <a:xfrm>
            <a:off x="7818120" y="4069080"/>
            <a:ext cx="960120" cy="640080"/>
          </a:xfrm>
          <a:prstGeom prst="rect">
            <a:avLst/>
          </a:prstGeom>
        </p:spPr>
      </p:pic>
      <p:pic>
        <p:nvPicPr>
          <p:cNvPr id="8" name="Image 1" descr="/home/claude/aws_logo_white.png">    </p:cNvPr>
          <p:cNvPicPr>
            <a:picLocks noChangeAspect="1"/>
          </p:cNvPicPr>
          <p:nvPr/>
        </p:nvPicPr>
        <p:blipFill>
          <a:blip r:embed="rId3"/>
          <a:stretch>
            <a:fillRect/>
          </a:stretch>
        </p:blipFill>
        <p:spPr>
          <a:xfrm>
            <a:off x="384048" y="4762195"/>
            <a:ext cx="315468" cy="210312"/>
          </a:xfrm>
          <a:prstGeom prst="rect">
            <a:avLst/>
          </a:prstGeom>
        </p:spPr>
      </p:pic>
      <p:sp>
        <p:nvSpPr>
          <p:cNvPr id="9" name="Text 5"/>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4000" spc="-120" kern="0" dirty="0">
                <a:solidFill>
                  <a:srgbClr val="FFFFFF"/>
                </a:solidFill>
                <a:latin typeface="Pretendard" pitchFamily="34" charset="0"/>
                <a:ea typeface="Pretendard" pitchFamily="34" charset="-122"/>
                <a:cs typeface="Pretendard" pitchFamily="34" charset="-120"/>
              </a:rPr>
              <a:t>Part 1</a:t>
            </a:r>
            <a:endParaRPr lang="en-US" sz="40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Why Physical AI Now</a:t>
            </a:r>
            <a:endParaRPr lang="en-US" sz="2200" dirty="0"/>
          </a:p>
        </p:txBody>
      </p:sp>
      <p:pic>
        <p:nvPicPr>
          <p:cNvPr id="4" name="Image 0" descr="/home/claude/aws_logo_white.png">    </p:cNvPr>
          <p:cNvPicPr>
            <a:picLocks noChangeAspect="1"/>
          </p:cNvPicPr>
          <p:nvPr/>
        </p:nvPicPr>
        <p:blipFill>
          <a:blip r:embed="rId2"/>
          <a:stretch>
            <a:fillRect/>
          </a:stretch>
        </p:blipFill>
        <p:spPr>
          <a:xfrm>
            <a:off x="384048" y="4762195"/>
            <a:ext cx="315468" cy="210312"/>
          </a:xfrm>
          <a:prstGeom prst="rect">
            <a:avLst/>
          </a:prstGeom>
        </p:spPr>
      </p:pic>
      <p:sp>
        <p:nvSpPr>
          <p:cNvPr id="5" name="Text 2"/>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6" name="Text 3"/>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Robotics: 65년의 진화</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1959년 Unimate에서 2026년 양산형 휴머노이드까지</a:t>
            </a:r>
            <a:endParaRPr lang="en-US" sz="1200" dirty="0"/>
          </a:p>
        </p:txBody>
      </p:sp>
      <p:sp>
        <p:nvSpPr>
          <p:cNvPr id="4" name="Shape 2"/>
          <p:cNvSpPr/>
          <p:nvPr/>
        </p:nvSpPr>
        <p:spPr>
          <a:xfrm>
            <a:off x="640080" y="1591056"/>
            <a:ext cx="6766560" cy="0"/>
          </a:xfrm>
          <a:prstGeom prst="line">
            <a:avLst/>
          </a:prstGeom>
          <a:noFill/>
          <a:ln w="15240">
            <a:solidFill>
              <a:srgbClr val="2A2F44"/>
            </a:solidFill>
            <a:prstDash val="solid"/>
          </a:ln>
        </p:spPr>
      </p:sp>
      <p:sp>
        <p:nvSpPr>
          <p:cNvPr id="5" name="Shape 3"/>
          <p:cNvSpPr/>
          <p:nvPr/>
        </p:nvSpPr>
        <p:spPr>
          <a:xfrm>
            <a:off x="484632" y="1527048"/>
            <a:ext cx="128016" cy="128016"/>
          </a:xfrm>
          <a:prstGeom prst="ellipse">
            <a:avLst/>
          </a:prstGeom>
          <a:solidFill>
            <a:srgbClr val="FF693C"/>
          </a:solidFill>
          <a:ln/>
        </p:spPr>
      </p:sp>
      <p:sp>
        <p:nvSpPr>
          <p:cNvPr id="6" name="Text 4"/>
          <p:cNvSpPr/>
          <p:nvPr/>
        </p:nvSpPr>
        <p:spPr>
          <a:xfrm>
            <a:off x="91440" y="1261872"/>
            <a:ext cx="91440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1959</a:t>
            </a:r>
            <a:endParaRPr lang="en-US" sz="1000" dirty="0"/>
          </a:p>
        </p:txBody>
      </p:sp>
      <p:sp>
        <p:nvSpPr>
          <p:cNvPr id="7" name="Text 5"/>
          <p:cNvSpPr/>
          <p:nvPr/>
        </p:nvSpPr>
        <p:spPr>
          <a:xfrm>
            <a:off x="45720" y="1700784"/>
            <a:ext cx="1005840" cy="182880"/>
          </a:xfrm>
          <a:prstGeom prst="rect">
            <a:avLst/>
          </a:prstGeom>
          <a:noFill/>
          <a:ln/>
        </p:spPr>
        <p:txBody>
          <a:bodyPr wrap="square" lIns="0" tIns="0" rIns="0" bIns="0" rtlCol="0" anchor="ctr"/>
          <a:lstStyle/>
          <a:p>
            <a:pPr algn="ctr" indent="0" marL="0">
              <a:buNone/>
            </a:pPr>
            <a:r>
              <a:rPr lang="en-US" sz="800" dirty="0">
                <a:solidFill>
                  <a:srgbClr val="A6ABBE"/>
                </a:solidFill>
                <a:latin typeface="Pretendard" pitchFamily="34" charset="0"/>
                <a:ea typeface="Pretendard" pitchFamily="34" charset="-122"/>
                <a:cs typeface="Pretendard" pitchFamily="34" charset="-120"/>
              </a:rPr>
              <a:t>Unimate</a:t>
            </a:r>
            <a:endParaRPr lang="en-US" sz="800" dirty="0"/>
          </a:p>
        </p:txBody>
      </p:sp>
      <p:sp>
        <p:nvSpPr>
          <p:cNvPr id="8" name="Shape 6"/>
          <p:cNvSpPr/>
          <p:nvPr/>
        </p:nvSpPr>
        <p:spPr>
          <a:xfrm>
            <a:off x="2130552" y="1527048"/>
            <a:ext cx="128016" cy="128016"/>
          </a:xfrm>
          <a:prstGeom prst="ellipse">
            <a:avLst/>
          </a:prstGeom>
          <a:solidFill>
            <a:srgbClr val="FF693C"/>
          </a:solidFill>
          <a:ln/>
        </p:spPr>
      </p:sp>
      <p:sp>
        <p:nvSpPr>
          <p:cNvPr id="9" name="Text 7"/>
          <p:cNvSpPr/>
          <p:nvPr/>
        </p:nvSpPr>
        <p:spPr>
          <a:xfrm>
            <a:off x="1737360" y="1261872"/>
            <a:ext cx="91440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1986</a:t>
            </a:r>
            <a:endParaRPr lang="en-US" sz="1000" dirty="0"/>
          </a:p>
        </p:txBody>
      </p:sp>
      <p:sp>
        <p:nvSpPr>
          <p:cNvPr id="10" name="Text 8"/>
          <p:cNvSpPr/>
          <p:nvPr/>
        </p:nvSpPr>
        <p:spPr>
          <a:xfrm>
            <a:off x="1691640" y="1700784"/>
            <a:ext cx="1005840" cy="182880"/>
          </a:xfrm>
          <a:prstGeom prst="rect">
            <a:avLst/>
          </a:prstGeom>
          <a:noFill/>
          <a:ln/>
        </p:spPr>
        <p:txBody>
          <a:bodyPr wrap="square" lIns="0" tIns="0" rIns="0" bIns="0" rtlCol="0" anchor="ctr"/>
          <a:lstStyle/>
          <a:p>
            <a:pPr algn="ctr" indent="0" marL="0">
              <a:buNone/>
            </a:pPr>
            <a:r>
              <a:rPr lang="en-US" sz="800" dirty="0">
                <a:solidFill>
                  <a:srgbClr val="A6ABBE"/>
                </a:solidFill>
                <a:latin typeface="Pretendard" pitchFamily="34" charset="0"/>
                <a:ea typeface="Pretendard" pitchFamily="34" charset="-122"/>
                <a:cs typeface="Pretendard" pitchFamily="34" charset="-120"/>
              </a:rPr>
              <a:t>Boston Dynamics</a:t>
            </a:r>
            <a:endParaRPr lang="en-US" sz="800" dirty="0"/>
          </a:p>
        </p:txBody>
      </p:sp>
      <p:sp>
        <p:nvSpPr>
          <p:cNvPr id="11" name="Shape 9"/>
          <p:cNvSpPr/>
          <p:nvPr/>
        </p:nvSpPr>
        <p:spPr>
          <a:xfrm>
            <a:off x="3776472" y="1527048"/>
            <a:ext cx="128016" cy="128016"/>
          </a:xfrm>
          <a:prstGeom prst="ellipse">
            <a:avLst/>
          </a:prstGeom>
          <a:solidFill>
            <a:srgbClr val="FF693C"/>
          </a:solidFill>
          <a:ln/>
        </p:spPr>
      </p:sp>
      <p:sp>
        <p:nvSpPr>
          <p:cNvPr id="12" name="Text 10"/>
          <p:cNvSpPr/>
          <p:nvPr/>
        </p:nvSpPr>
        <p:spPr>
          <a:xfrm>
            <a:off x="3383280" y="1261872"/>
            <a:ext cx="91440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2013</a:t>
            </a:r>
            <a:endParaRPr lang="en-US" sz="1000" dirty="0"/>
          </a:p>
        </p:txBody>
      </p:sp>
      <p:sp>
        <p:nvSpPr>
          <p:cNvPr id="13" name="Text 11"/>
          <p:cNvSpPr/>
          <p:nvPr/>
        </p:nvSpPr>
        <p:spPr>
          <a:xfrm>
            <a:off x="3337560" y="1700784"/>
            <a:ext cx="1005840" cy="182880"/>
          </a:xfrm>
          <a:prstGeom prst="rect">
            <a:avLst/>
          </a:prstGeom>
          <a:noFill/>
          <a:ln/>
        </p:spPr>
        <p:txBody>
          <a:bodyPr wrap="square" lIns="0" tIns="0" rIns="0" bIns="0" rtlCol="0" anchor="ctr"/>
          <a:lstStyle/>
          <a:p>
            <a:pPr algn="ctr" indent="0" marL="0">
              <a:buNone/>
            </a:pPr>
            <a:r>
              <a:rPr lang="en-US" sz="800" dirty="0">
                <a:solidFill>
                  <a:srgbClr val="A6ABBE"/>
                </a:solidFill>
                <a:latin typeface="Pretendard" pitchFamily="34" charset="0"/>
                <a:ea typeface="Pretendard" pitchFamily="34" charset="-122"/>
                <a:cs typeface="Pretendard" pitchFamily="34" charset="-120"/>
              </a:rPr>
              <a:t>Atlas v1</a:t>
            </a:r>
            <a:endParaRPr lang="en-US" sz="800" dirty="0"/>
          </a:p>
        </p:txBody>
      </p:sp>
      <p:sp>
        <p:nvSpPr>
          <p:cNvPr id="14" name="Shape 12"/>
          <p:cNvSpPr/>
          <p:nvPr/>
        </p:nvSpPr>
        <p:spPr>
          <a:xfrm>
            <a:off x="5422392" y="1527048"/>
            <a:ext cx="128016" cy="128016"/>
          </a:xfrm>
          <a:prstGeom prst="ellipse">
            <a:avLst/>
          </a:prstGeom>
          <a:solidFill>
            <a:srgbClr val="FF693C"/>
          </a:solidFill>
          <a:ln/>
        </p:spPr>
      </p:sp>
      <p:sp>
        <p:nvSpPr>
          <p:cNvPr id="15" name="Text 13"/>
          <p:cNvSpPr/>
          <p:nvPr/>
        </p:nvSpPr>
        <p:spPr>
          <a:xfrm>
            <a:off x="5029200" y="1261872"/>
            <a:ext cx="91440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2022</a:t>
            </a:r>
            <a:endParaRPr lang="en-US" sz="1000" dirty="0"/>
          </a:p>
        </p:txBody>
      </p:sp>
      <p:sp>
        <p:nvSpPr>
          <p:cNvPr id="16" name="Text 14"/>
          <p:cNvSpPr/>
          <p:nvPr/>
        </p:nvSpPr>
        <p:spPr>
          <a:xfrm>
            <a:off x="4983480" y="1700784"/>
            <a:ext cx="1005840" cy="182880"/>
          </a:xfrm>
          <a:prstGeom prst="rect">
            <a:avLst/>
          </a:prstGeom>
          <a:noFill/>
          <a:ln/>
        </p:spPr>
        <p:txBody>
          <a:bodyPr wrap="square" lIns="0" tIns="0" rIns="0" bIns="0" rtlCol="0" anchor="ctr"/>
          <a:lstStyle/>
          <a:p>
            <a:pPr algn="ctr" indent="0" marL="0">
              <a:buNone/>
            </a:pPr>
            <a:r>
              <a:rPr lang="en-US" sz="800" dirty="0">
                <a:solidFill>
                  <a:srgbClr val="A6ABBE"/>
                </a:solidFill>
                <a:latin typeface="Pretendard" pitchFamily="34" charset="0"/>
                <a:ea typeface="Pretendard" pitchFamily="34" charset="-122"/>
                <a:cs typeface="Pretendard" pitchFamily="34" charset="-120"/>
              </a:rPr>
              <a:t>Optimus 1</a:t>
            </a:r>
            <a:endParaRPr lang="en-US" sz="800" dirty="0"/>
          </a:p>
        </p:txBody>
      </p:sp>
      <p:sp>
        <p:nvSpPr>
          <p:cNvPr id="17" name="Shape 15"/>
          <p:cNvSpPr/>
          <p:nvPr/>
        </p:nvSpPr>
        <p:spPr>
          <a:xfrm>
            <a:off x="7068312" y="1527048"/>
            <a:ext cx="128016" cy="128016"/>
          </a:xfrm>
          <a:prstGeom prst="ellipse">
            <a:avLst/>
          </a:prstGeom>
          <a:solidFill>
            <a:srgbClr val="FF693C"/>
          </a:solidFill>
          <a:ln/>
        </p:spPr>
      </p:sp>
      <p:sp>
        <p:nvSpPr>
          <p:cNvPr id="18" name="Text 16"/>
          <p:cNvSpPr/>
          <p:nvPr/>
        </p:nvSpPr>
        <p:spPr>
          <a:xfrm>
            <a:off x="6675120" y="1261872"/>
            <a:ext cx="91440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Pretendard" pitchFamily="34" charset="0"/>
                <a:ea typeface="Pretendard" pitchFamily="34" charset="-122"/>
                <a:cs typeface="Pretendard" pitchFamily="34" charset="-120"/>
              </a:rPr>
              <a:t>2026</a:t>
            </a:r>
            <a:endParaRPr lang="en-US" sz="1000" dirty="0"/>
          </a:p>
        </p:txBody>
      </p:sp>
      <p:sp>
        <p:nvSpPr>
          <p:cNvPr id="19" name="Text 17"/>
          <p:cNvSpPr/>
          <p:nvPr/>
        </p:nvSpPr>
        <p:spPr>
          <a:xfrm>
            <a:off x="6629400" y="1700784"/>
            <a:ext cx="1005840" cy="182880"/>
          </a:xfrm>
          <a:prstGeom prst="rect">
            <a:avLst/>
          </a:prstGeom>
          <a:noFill/>
          <a:ln/>
        </p:spPr>
        <p:txBody>
          <a:bodyPr wrap="square" lIns="0" tIns="0" rIns="0" bIns="0" rtlCol="0" anchor="ctr"/>
          <a:lstStyle/>
          <a:p>
            <a:pPr algn="ctr" indent="0" marL="0">
              <a:buNone/>
            </a:pPr>
            <a:r>
              <a:rPr lang="en-US" sz="800" dirty="0">
                <a:solidFill>
                  <a:srgbClr val="A6ABBE"/>
                </a:solidFill>
                <a:latin typeface="Pretendard" pitchFamily="34" charset="0"/>
                <a:ea typeface="Pretendard" pitchFamily="34" charset="-122"/>
                <a:cs typeface="Pretendard" pitchFamily="34" charset="-120"/>
              </a:rPr>
              <a:t>양산형 5종</a:t>
            </a:r>
            <a:endParaRPr lang="en-US" sz="800" dirty="0"/>
          </a:p>
        </p:txBody>
      </p:sp>
      <p:sp>
        <p:nvSpPr>
          <p:cNvPr id="20" name="Shape 18"/>
          <p:cNvSpPr/>
          <p:nvPr/>
        </p:nvSpPr>
        <p:spPr>
          <a:xfrm>
            <a:off x="384048" y="2194560"/>
            <a:ext cx="4114800" cy="1920240"/>
          </a:xfrm>
          <a:prstGeom prst="rect">
            <a:avLst/>
          </a:prstGeom>
          <a:solidFill>
            <a:srgbClr val="1C1F30"/>
          </a:solidFill>
          <a:ln w="9525">
            <a:solidFill>
              <a:srgbClr val="2A2F44"/>
            </a:solidFill>
            <a:prstDash val="solid"/>
          </a:ln>
        </p:spPr>
      </p:sp>
      <p:sp>
        <p:nvSpPr>
          <p:cNvPr id="21" name="Text 19"/>
          <p:cNvSpPr/>
          <p:nvPr/>
        </p:nvSpPr>
        <p:spPr>
          <a:xfrm>
            <a:off x="530352" y="2340864"/>
            <a:ext cx="3822192" cy="274320"/>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축적의 시간 (1959-2020)</a:t>
            </a:r>
            <a:endParaRPr lang="en-US" sz="1300" dirty="0"/>
          </a:p>
        </p:txBody>
      </p:sp>
      <p:sp>
        <p:nvSpPr>
          <p:cNvPr id="22" name="Text 20"/>
          <p:cNvSpPr/>
          <p:nvPr/>
        </p:nvSpPr>
        <p:spPr>
          <a:xfrm>
            <a:off x="530352" y="2743200"/>
            <a:ext cx="3822192" cy="1280160"/>
          </a:xfrm>
          <a:prstGeom prst="rect">
            <a:avLst/>
          </a:prstGeom>
          <a:noFill/>
          <a:ln/>
        </p:spPr>
        <p:txBody>
          <a:bodyPr wrap="square" lIns="0" tIns="0" rIns="0" bIns="0" rtlCol="0" anchor="t"/>
          <a:lstStyle/>
          <a:p>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60년에 걸친 점진적 진화</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공장 자동화 → 연구실 데모</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센서·액추에이터 단가 100배 하락</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ROS 표준화로 SW 생태계 형성</a:t>
            </a:r>
            <a:endParaRPr lang="en-US" sz="900" dirty="0"/>
          </a:p>
        </p:txBody>
      </p:sp>
      <p:sp>
        <p:nvSpPr>
          <p:cNvPr id="23" name="Shape 21"/>
          <p:cNvSpPr/>
          <p:nvPr/>
        </p:nvSpPr>
        <p:spPr>
          <a:xfrm>
            <a:off x="4645152" y="2194560"/>
            <a:ext cx="4114800" cy="1920240"/>
          </a:xfrm>
          <a:prstGeom prst="rect">
            <a:avLst/>
          </a:prstGeom>
          <a:solidFill>
            <a:srgbClr val="1C1F30"/>
          </a:solidFill>
          <a:ln w="9525">
            <a:solidFill>
              <a:srgbClr val="2A2F44"/>
            </a:solidFill>
            <a:prstDash val="solid"/>
          </a:ln>
        </p:spPr>
      </p:sp>
      <p:sp>
        <p:nvSpPr>
          <p:cNvPr id="24" name="Text 22"/>
          <p:cNvSpPr/>
          <p:nvPr/>
        </p:nvSpPr>
        <p:spPr>
          <a:xfrm>
            <a:off x="4791456" y="2340864"/>
            <a:ext cx="3822192" cy="274320"/>
          </a:xfrm>
          <a:prstGeom prst="rect">
            <a:avLst/>
          </a:prstGeom>
          <a:noFill/>
          <a:ln/>
        </p:spPr>
        <p:txBody>
          <a:bodyPr wrap="square" lIns="0" tIns="0" rIns="0" bIns="0" rtlCol="0" anchor="ctr"/>
          <a:lstStyle/>
          <a:p>
            <a:pPr indent="0" marL="0">
              <a:buNone/>
            </a:pPr>
            <a:r>
              <a:rPr lang="en-US" sz="1300" b="1" dirty="0">
                <a:solidFill>
                  <a:srgbClr val="FF693C"/>
                </a:solidFill>
                <a:latin typeface="Pretendard" pitchFamily="34" charset="0"/>
                <a:ea typeface="Pretendard" pitchFamily="34" charset="-122"/>
                <a:cs typeface="Pretendard" pitchFamily="34" charset="-120"/>
              </a:rPr>
              <a:t>압축의 시간 (2021-2026)</a:t>
            </a:r>
            <a:endParaRPr lang="en-US" sz="1300" dirty="0"/>
          </a:p>
        </p:txBody>
      </p:sp>
      <p:sp>
        <p:nvSpPr>
          <p:cNvPr id="25" name="Text 23"/>
          <p:cNvSpPr/>
          <p:nvPr/>
        </p:nvSpPr>
        <p:spPr>
          <a:xfrm>
            <a:off x="4791456" y="2743200"/>
            <a:ext cx="3822192" cy="1280160"/>
          </a:xfrm>
          <a:prstGeom prst="rect">
            <a:avLst/>
          </a:prstGeom>
          <a:noFill/>
          <a:ln/>
        </p:spPr>
        <p:txBody>
          <a:bodyPr wrap="square" lIns="0" tIns="0" rIns="0" bIns="0" rtlCol="0" anchor="t"/>
          <a:lstStyle/>
          <a:p>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GPT 등장 후 5년 만에 VLA 부상</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Tesla·Figure·Unitree 양산 진입</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Foundation Model + 시뮬레이션 결합</a:t>
            </a:r>
            <a:pPr indent="0" marL="0">
              <a:spcAft>
                <a:spcPts val="500"/>
              </a:spcAft>
              <a:buNone/>
            </a:pPr>
            <a:r>
              <a:rPr lang="en-US" sz="900" dirty="0">
                <a:solidFill>
                  <a:srgbClr val="E2E4EC"/>
                </a:solidFill>
                <a:latin typeface="Pretendard" pitchFamily="34" charset="0"/>
                <a:ea typeface="Pretendard" pitchFamily="34" charset="-122"/>
                <a:cs typeface="Pretendard" pitchFamily="34" charset="-120"/>
              </a:rPr>
              <a:t>•  국내 두산·HD현대 본격 투자</a:t>
            </a:r>
            <a:endParaRPr lang="en-US" sz="900" dirty="0"/>
          </a:p>
        </p:txBody>
      </p:sp>
      <p:sp>
        <p:nvSpPr>
          <p:cNvPr id="26" name="Text 24"/>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65년</a:t>
            </a:r>
            <a:endParaRPr lang="en-US" sz="1600" dirty="0"/>
          </a:p>
        </p:txBody>
      </p:sp>
      <p:sp>
        <p:nvSpPr>
          <p:cNvPr id="27" name="Text 25"/>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총 발전 기간</a:t>
            </a:r>
            <a:endParaRPr lang="en-US" sz="750" dirty="0"/>
          </a:p>
        </p:txBody>
      </p:sp>
      <p:sp>
        <p:nvSpPr>
          <p:cNvPr id="28" name="Text 26"/>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5년</a:t>
            </a:r>
            <a:endParaRPr lang="en-US" sz="1600" dirty="0"/>
          </a:p>
        </p:txBody>
      </p:sp>
      <p:sp>
        <p:nvSpPr>
          <p:cNvPr id="29" name="Text 27"/>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VLA 부상 압축 시간</a:t>
            </a:r>
            <a:endParaRPr lang="en-US" sz="750" dirty="0"/>
          </a:p>
        </p:txBody>
      </p:sp>
      <p:sp>
        <p:nvSpPr>
          <p:cNvPr id="30" name="Text 28"/>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$32B</a:t>
            </a:r>
            <a:endParaRPr lang="en-US" sz="1600" dirty="0"/>
          </a:p>
        </p:txBody>
      </p:sp>
      <p:sp>
        <p:nvSpPr>
          <p:cNvPr id="31" name="Text 29"/>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2026 시장 규모</a:t>
            </a:r>
            <a:endParaRPr lang="en-US" sz="750" dirty="0"/>
          </a:p>
        </p:txBody>
      </p:sp>
      <p:sp>
        <p:nvSpPr>
          <p:cNvPr id="32" name="Text 30"/>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5종</a:t>
            </a:r>
            <a:endParaRPr lang="en-US" sz="1600" dirty="0"/>
          </a:p>
        </p:txBody>
      </p:sp>
      <p:sp>
        <p:nvSpPr>
          <p:cNvPr id="33" name="Text 31"/>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2026 양산 휴머노이드</a:t>
            </a:r>
            <a:endParaRPr lang="en-US" sz="750" dirty="0"/>
          </a:p>
        </p:txBody>
      </p:sp>
      <p:pic>
        <p:nvPicPr>
          <p:cNvPr id="34"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35" name="Text 32"/>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36" name="Text 33"/>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3</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2026 양산 휴머노이드 5종</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각자 다른 폼팩터·가격·타깃 시장으로 차별화</a:t>
            </a:r>
            <a:endParaRPr lang="en-US" sz="1200" dirty="0"/>
          </a:p>
        </p:txBody>
      </p:sp>
      <p:sp>
        <p:nvSpPr>
          <p:cNvPr id="4" name="Shape 2"/>
          <p:cNvSpPr/>
          <p:nvPr/>
        </p:nvSpPr>
        <p:spPr>
          <a:xfrm>
            <a:off x="384048" y="1261872"/>
            <a:ext cx="1602029" cy="54864"/>
          </a:xfrm>
          <a:prstGeom prst="rect">
            <a:avLst/>
          </a:prstGeom>
          <a:solidFill>
            <a:srgbClr val="CC0000"/>
          </a:solidFill>
          <a:ln/>
        </p:spPr>
      </p:sp>
      <p:sp>
        <p:nvSpPr>
          <p:cNvPr id="5" name="Shape 3"/>
          <p:cNvSpPr/>
          <p:nvPr/>
        </p:nvSpPr>
        <p:spPr>
          <a:xfrm>
            <a:off x="384048" y="1316736"/>
            <a:ext cx="1602029" cy="2734056"/>
          </a:xfrm>
          <a:prstGeom prst="rect">
            <a:avLst/>
          </a:prstGeom>
          <a:solidFill>
            <a:srgbClr val="1C1F30"/>
          </a:solidFill>
          <a:ln w="9525">
            <a:solidFill>
              <a:srgbClr val="2A2F44"/>
            </a:solidFill>
            <a:prstDash val="solid"/>
          </a:ln>
        </p:spPr>
      </p:sp>
      <p:sp>
        <p:nvSpPr>
          <p:cNvPr id="6" name="Text 4"/>
          <p:cNvSpPr/>
          <p:nvPr/>
        </p:nvSpPr>
        <p:spPr>
          <a:xfrm>
            <a:off x="512064" y="1444752"/>
            <a:ext cx="1345997"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TESLA</a:t>
            </a:r>
            <a:endParaRPr lang="en-US" sz="800" dirty="0"/>
          </a:p>
        </p:txBody>
      </p:sp>
      <p:sp>
        <p:nvSpPr>
          <p:cNvPr id="7" name="Shape 5"/>
          <p:cNvSpPr/>
          <p:nvPr/>
        </p:nvSpPr>
        <p:spPr>
          <a:xfrm>
            <a:off x="512064" y="1664208"/>
            <a:ext cx="502920" cy="164592"/>
          </a:xfrm>
          <a:prstGeom prst="roundRect">
            <a:avLst>
              <a:gd name="adj" fmla="val 33333"/>
            </a:avLst>
          </a:prstGeom>
          <a:solidFill>
            <a:srgbClr val="CC0000"/>
          </a:solidFill>
          <a:ln/>
        </p:spPr>
      </p:sp>
      <p:sp>
        <p:nvSpPr>
          <p:cNvPr id="8" name="Text 6"/>
          <p:cNvSpPr/>
          <p:nvPr/>
        </p:nvSpPr>
        <p:spPr>
          <a:xfrm>
            <a:off x="512064"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FLAGSHIP</a:t>
            </a:r>
            <a:endParaRPr lang="en-US" sz="680" dirty="0"/>
          </a:p>
        </p:txBody>
      </p:sp>
      <p:sp>
        <p:nvSpPr>
          <p:cNvPr id="9" name="Text 7"/>
          <p:cNvSpPr/>
          <p:nvPr/>
        </p:nvSpPr>
        <p:spPr>
          <a:xfrm>
            <a:off x="512064" y="1883664"/>
            <a:ext cx="1345997"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Optimus Gen 3</a:t>
            </a:r>
            <a:endParaRPr lang="en-US" sz="1300" dirty="0"/>
          </a:p>
        </p:txBody>
      </p:sp>
      <p:sp>
        <p:nvSpPr>
          <p:cNvPr id="10" name="Text 8"/>
          <p:cNvSpPr/>
          <p:nvPr/>
        </p:nvSpPr>
        <p:spPr>
          <a:xfrm>
            <a:off x="512064" y="2176272"/>
            <a:ext cx="1345997" cy="164592"/>
          </a:xfrm>
          <a:prstGeom prst="rect">
            <a:avLst/>
          </a:prstGeom>
          <a:noFill/>
          <a:ln/>
        </p:spPr>
        <p:txBody>
          <a:bodyPr wrap="square" lIns="0" tIns="0" rIns="0" bIns="0" rtlCol="0" anchor="ctr"/>
          <a:lstStyle/>
          <a:p>
            <a:pPr indent="0" marL="0">
              <a:buNone/>
            </a:pPr>
            <a:r>
              <a:rPr lang="en-US" sz="780" b="1" dirty="0">
                <a:solidFill>
                  <a:srgbClr val="CC0000"/>
                </a:solidFill>
                <a:latin typeface="Pretendard" pitchFamily="34" charset="0"/>
                <a:ea typeface="Pretendard" pitchFamily="34" charset="-122"/>
                <a:cs typeface="Pretendard" pitchFamily="34" charset="-120"/>
              </a:rPr>
              <a:t>2026 Q2 양산</a:t>
            </a:r>
            <a:endParaRPr lang="en-US" sz="780" dirty="0"/>
          </a:p>
        </p:txBody>
      </p:sp>
      <p:sp>
        <p:nvSpPr>
          <p:cNvPr id="11" name="Text 9"/>
          <p:cNvSpPr/>
          <p:nvPr/>
        </p:nvSpPr>
        <p:spPr>
          <a:xfrm>
            <a:off x="512064" y="2359152"/>
            <a:ext cx="1345997"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범용 가사·노동</a:t>
            </a:r>
            <a:endParaRPr lang="en-US" sz="900" dirty="0"/>
          </a:p>
        </p:txBody>
      </p:sp>
      <p:sp>
        <p:nvSpPr>
          <p:cNvPr id="12" name="Shape 10"/>
          <p:cNvSpPr/>
          <p:nvPr/>
        </p:nvSpPr>
        <p:spPr>
          <a:xfrm>
            <a:off x="512064" y="2743200"/>
            <a:ext cx="1345997" cy="0"/>
          </a:xfrm>
          <a:prstGeom prst="line">
            <a:avLst/>
          </a:prstGeom>
          <a:noFill/>
          <a:ln w="6350">
            <a:solidFill>
              <a:srgbClr val="2A2F44"/>
            </a:solidFill>
            <a:prstDash val="solid"/>
          </a:ln>
        </p:spPr>
      </p:sp>
      <p:sp>
        <p:nvSpPr>
          <p:cNvPr id="13" name="Text 11"/>
          <p:cNvSpPr/>
          <p:nvPr/>
        </p:nvSpPr>
        <p:spPr>
          <a:xfrm>
            <a:off x="512064" y="2834640"/>
            <a:ext cx="1345997"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170cm / 56kg</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$20K 목표가</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공장 내부 시범</a:t>
            </a:r>
            <a:endParaRPr lang="en-US" sz="840" dirty="0"/>
          </a:p>
        </p:txBody>
      </p:sp>
      <p:sp>
        <p:nvSpPr>
          <p:cNvPr id="14" name="Shape 12"/>
          <p:cNvSpPr/>
          <p:nvPr/>
        </p:nvSpPr>
        <p:spPr>
          <a:xfrm>
            <a:off x="2077517" y="1261872"/>
            <a:ext cx="1602029" cy="54864"/>
          </a:xfrm>
          <a:prstGeom prst="rect">
            <a:avLst/>
          </a:prstGeom>
          <a:solidFill>
            <a:srgbClr val="1FBA8C"/>
          </a:solidFill>
          <a:ln/>
        </p:spPr>
      </p:sp>
      <p:sp>
        <p:nvSpPr>
          <p:cNvPr id="15" name="Shape 13"/>
          <p:cNvSpPr/>
          <p:nvPr/>
        </p:nvSpPr>
        <p:spPr>
          <a:xfrm>
            <a:off x="2077517" y="1316736"/>
            <a:ext cx="1602029" cy="2734056"/>
          </a:xfrm>
          <a:prstGeom prst="rect">
            <a:avLst/>
          </a:prstGeom>
          <a:solidFill>
            <a:srgbClr val="1C1F30"/>
          </a:solidFill>
          <a:ln w="9525">
            <a:solidFill>
              <a:srgbClr val="2A2F44"/>
            </a:solidFill>
            <a:prstDash val="solid"/>
          </a:ln>
        </p:spPr>
      </p:sp>
      <p:sp>
        <p:nvSpPr>
          <p:cNvPr id="16" name="Text 14"/>
          <p:cNvSpPr/>
          <p:nvPr/>
        </p:nvSpPr>
        <p:spPr>
          <a:xfrm>
            <a:off x="2205533" y="1444752"/>
            <a:ext cx="1345997"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FIGURE</a:t>
            </a:r>
            <a:endParaRPr lang="en-US" sz="800" dirty="0"/>
          </a:p>
        </p:txBody>
      </p:sp>
      <p:sp>
        <p:nvSpPr>
          <p:cNvPr id="17" name="Shape 15"/>
          <p:cNvSpPr/>
          <p:nvPr/>
        </p:nvSpPr>
        <p:spPr>
          <a:xfrm>
            <a:off x="2205533" y="1664208"/>
            <a:ext cx="502920" cy="164592"/>
          </a:xfrm>
          <a:prstGeom prst="roundRect">
            <a:avLst>
              <a:gd name="adj" fmla="val 33333"/>
            </a:avLst>
          </a:prstGeom>
          <a:solidFill>
            <a:srgbClr val="1FBA8C"/>
          </a:solidFill>
          <a:ln/>
        </p:spPr>
      </p:sp>
      <p:sp>
        <p:nvSpPr>
          <p:cNvPr id="18" name="Text 16"/>
          <p:cNvSpPr/>
          <p:nvPr/>
        </p:nvSpPr>
        <p:spPr>
          <a:xfrm>
            <a:off x="2205533"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PARTNER</a:t>
            </a:r>
            <a:endParaRPr lang="en-US" sz="680" dirty="0"/>
          </a:p>
        </p:txBody>
      </p:sp>
      <p:sp>
        <p:nvSpPr>
          <p:cNvPr id="19" name="Text 17"/>
          <p:cNvSpPr/>
          <p:nvPr/>
        </p:nvSpPr>
        <p:spPr>
          <a:xfrm>
            <a:off x="2205533" y="1883664"/>
            <a:ext cx="1345997"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Figure 02</a:t>
            </a:r>
            <a:endParaRPr lang="en-US" sz="1300" dirty="0"/>
          </a:p>
        </p:txBody>
      </p:sp>
      <p:sp>
        <p:nvSpPr>
          <p:cNvPr id="20" name="Text 18"/>
          <p:cNvSpPr/>
          <p:nvPr/>
        </p:nvSpPr>
        <p:spPr>
          <a:xfrm>
            <a:off x="2205533" y="2176272"/>
            <a:ext cx="1345997" cy="164592"/>
          </a:xfrm>
          <a:prstGeom prst="rect">
            <a:avLst/>
          </a:prstGeom>
          <a:noFill/>
          <a:ln/>
        </p:spPr>
        <p:txBody>
          <a:bodyPr wrap="square" lIns="0" tIns="0" rIns="0" bIns="0" rtlCol="0" anchor="ctr"/>
          <a:lstStyle/>
          <a:p>
            <a:pPr indent="0" marL="0">
              <a:buNone/>
            </a:pPr>
            <a:r>
              <a:rPr lang="en-US" sz="780" b="1" dirty="0">
                <a:solidFill>
                  <a:srgbClr val="1FBA8C"/>
                </a:solidFill>
                <a:latin typeface="Pretendard" pitchFamily="34" charset="0"/>
                <a:ea typeface="Pretendard" pitchFamily="34" charset="-122"/>
                <a:cs typeface="Pretendard" pitchFamily="34" charset="-120"/>
              </a:rPr>
              <a:t>BMW 협력</a:t>
            </a:r>
            <a:endParaRPr lang="en-US" sz="780" dirty="0"/>
          </a:p>
        </p:txBody>
      </p:sp>
      <p:sp>
        <p:nvSpPr>
          <p:cNvPr id="21" name="Text 19"/>
          <p:cNvSpPr/>
          <p:nvPr/>
        </p:nvSpPr>
        <p:spPr>
          <a:xfrm>
            <a:off x="2205533" y="2359152"/>
            <a:ext cx="1345997"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산업 자동화</a:t>
            </a:r>
            <a:endParaRPr lang="en-US" sz="900" dirty="0"/>
          </a:p>
        </p:txBody>
      </p:sp>
      <p:sp>
        <p:nvSpPr>
          <p:cNvPr id="22" name="Shape 20"/>
          <p:cNvSpPr/>
          <p:nvPr/>
        </p:nvSpPr>
        <p:spPr>
          <a:xfrm>
            <a:off x="2205533" y="2743200"/>
            <a:ext cx="1345997" cy="0"/>
          </a:xfrm>
          <a:prstGeom prst="line">
            <a:avLst/>
          </a:prstGeom>
          <a:noFill/>
          <a:ln w="6350">
            <a:solidFill>
              <a:srgbClr val="2A2F44"/>
            </a:solidFill>
            <a:prstDash val="solid"/>
          </a:ln>
        </p:spPr>
      </p:sp>
      <p:sp>
        <p:nvSpPr>
          <p:cNvPr id="23" name="Text 21"/>
          <p:cNvSpPr/>
          <p:nvPr/>
        </p:nvSpPr>
        <p:spPr>
          <a:xfrm>
            <a:off x="2205533" y="2834640"/>
            <a:ext cx="1345997"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BMW Spartanburg</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Helix VLA 탑재</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$30K 추정</a:t>
            </a:r>
            <a:endParaRPr lang="en-US" sz="840" dirty="0"/>
          </a:p>
        </p:txBody>
      </p:sp>
      <p:sp>
        <p:nvSpPr>
          <p:cNvPr id="24" name="Shape 22"/>
          <p:cNvSpPr/>
          <p:nvPr/>
        </p:nvSpPr>
        <p:spPr>
          <a:xfrm>
            <a:off x="3770986" y="1261872"/>
            <a:ext cx="1602029" cy="54864"/>
          </a:xfrm>
          <a:prstGeom prst="rect">
            <a:avLst/>
          </a:prstGeom>
          <a:solidFill>
            <a:srgbClr val="FF6A00"/>
          </a:solidFill>
          <a:ln/>
        </p:spPr>
      </p:sp>
      <p:sp>
        <p:nvSpPr>
          <p:cNvPr id="25" name="Shape 23"/>
          <p:cNvSpPr/>
          <p:nvPr/>
        </p:nvSpPr>
        <p:spPr>
          <a:xfrm>
            <a:off x="3770986" y="1316736"/>
            <a:ext cx="1602029" cy="2734056"/>
          </a:xfrm>
          <a:prstGeom prst="rect">
            <a:avLst/>
          </a:prstGeom>
          <a:solidFill>
            <a:srgbClr val="1C1F30"/>
          </a:solidFill>
          <a:ln w="9525">
            <a:solidFill>
              <a:srgbClr val="2A2F44"/>
            </a:solidFill>
            <a:prstDash val="solid"/>
          </a:ln>
        </p:spPr>
      </p:sp>
      <p:sp>
        <p:nvSpPr>
          <p:cNvPr id="26" name="Text 24"/>
          <p:cNvSpPr/>
          <p:nvPr/>
        </p:nvSpPr>
        <p:spPr>
          <a:xfrm>
            <a:off x="3899002" y="1444752"/>
            <a:ext cx="1345997"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UNITREE</a:t>
            </a:r>
            <a:endParaRPr lang="en-US" sz="800" dirty="0"/>
          </a:p>
        </p:txBody>
      </p:sp>
      <p:sp>
        <p:nvSpPr>
          <p:cNvPr id="27" name="Shape 25"/>
          <p:cNvSpPr/>
          <p:nvPr/>
        </p:nvSpPr>
        <p:spPr>
          <a:xfrm>
            <a:off x="3899002" y="1664208"/>
            <a:ext cx="502920" cy="164592"/>
          </a:xfrm>
          <a:prstGeom prst="roundRect">
            <a:avLst>
              <a:gd name="adj" fmla="val 33333"/>
            </a:avLst>
          </a:prstGeom>
          <a:solidFill>
            <a:srgbClr val="FF6A00"/>
          </a:solidFill>
          <a:ln/>
        </p:spPr>
      </p:sp>
      <p:sp>
        <p:nvSpPr>
          <p:cNvPr id="28" name="Text 26"/>
          <p:cNvSpPr/>
          <p:nvPr/>
        </p:nvSpPr>
        <p:spPr>
          <a:xfrm>
            <a:off x="3899002"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PRICE</a:t>
            </a:r>
            <a:endParaRPr lang="en-US" sz="680" dirty="0"/>
          </a:p>
        </p:txBody>
      </p:sp>
      <p:sp>
        <p:nvSpPr>
          <p:cNvPr id="29" name="Text 27"/>
          <p:cNvSpPr/>
          <p:nvPr/>
        </p:nvSpPr>
        <p:spPr>
          <a:xfrm>
            <a:off x="3899002" y="1883664"/>
            <a:ext cx="1345997"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G1 / H1-2</a:t>
            </a:r>
            <a:endParaRPr lang="en-US" sz="1300" dirty="0"/>
          </a:p>
        </p:txBody>
      </p:sp>
      <p:sp>
        <p:nvSpPr>
          <p:cNvPr id="30" name="Text 28"/>
          <p:cNvSpPr/>
          <p:nvPr/>
        </p:nvSpPr>
        <p:spPr>
          <a:xfrm>
            <a:off x="3899002" y="2176272"/>
            <a:ext cx="1345997" cy="164592"/>
          </a:xfrm>
          <a:prstGeom prst="rect">
            <a:avLst/>
          </a:prstGeom>
          <a:noFill/>
          <a:ln/>
        </p:spPr>
        <p:txBody>
          <a:bodyPr wrap="square" lIns="0" tIns="0" rIns="0" bIns="0" rtlCol="0" anchor="ctr"/>
          <a:lstStyle/>
          <a:p>
            <a:pPr indent="0" marL="0">
              <a:buNone/>
            </a:pPr>
            <a:r>
              <a:rPr lang="en-US" sz="780" b="1" dirty="0">
                <a:solidFill>
                  <a:srgbClr val="FF6A00"/>
                </a:solidFill>
                <a:latin typeface="Pretendard" pitchFamily="34" charset="0"/>
                <a:ea typeface="Pretendard" pitchFamily="34" charset="-122"/>
                <a:cs typeface="Pretendard" pitchFamily="34" charset="-120"/>
              </a:rPr>
              <a:t>양산 진행</a:t>
            </a:r>
            <a:endParaRPr lang="en-US" sz="780" dirty="0"/>
          </a:p>
        </p:txBody>
      </p:sp>
      <p:sp>
        <p:nvSpPr>
          <p:cNvPr id="31" name="Text 29"/>
          <p:cNvSpPr/>
          <p:nvPr/>
        </p:nvSpPr>
        <p:spPr>
          <a:xfrm>
            <a:off x="3899002" y="2359152"/>
            <a:ext cx="1345997"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연구·교육 시장</a:t>
            </a:r>
            <a:endParaRPr lang="en-US" sz="900" dirty="0"/>
          </a:p>
        </p:txBody>
      </p:sp>
      <p:sp>
        <p:nvSpPr>
          <p:cNvPr id="32" name="Shape 30"/>
          <p:cNvSpPr/>
          <p:nvPr/>
        </p:nvSpPr>
        <p:spPr>
          <a:xfrm>
            <a:off x="3899002" y="2743200"/>
            <a:ext cx="1345997" cy="0"/>
          </a:xfrm>
          <a:prstGeom prst="line">
            <a:avLst/>
          </a:prstGeom>
          <a:noFill/>
          <a:ln w="6350">
            <a:solidFill>
              <a:srgbClr val="2A2F44"/>
            </a:solidFill>
            <a:prstDash val="solid"/>
          </a:ln>
        </p:spPr>
      </p:sp>
      <p:sp>
        <p:nvSpPr>
          <p:cNvPr id="33" name="Text 31"/>
          <p:cNvSpPr/>
          <p:nvPr/>
        </p:nvSpPr>
        <p:spPr>
          <a:xfrm>
            <a:off x="3899002" y="2834640"/>
            <a:ext cx="1345997"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$16K (G1)</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오픈소스 SDK</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중국 내 압도적</a:t>
            </a:r>
            <a:endParaRPr lang="en-US" sz="840" dirty="0"/>
          </a:p>
        </p:txBody>
      </p:sp>
      <p:sp>
        <p:nvSpPr>
          <p:cNvPr id="34" name="Shape 32"/>
          <p:cNvSpPr/>
          <p:nvPr/>
        </p:nvSpPr>
        <p:spPr>
          <a:xfrm>
            <a:off x="5464454" y="1261872"/>
            <a:ext cx="1602029" cy="54864"/>
          </a:xfrm>
          <a:prstGeom prst="rect">
            <a:avLst/>
          </a:prstGeom>
          <a:solidFill>
            <a:srgbClr val="002C5F"/>
          </a:solidFill>
          <a:ln/>
        </p:spPr>
      </p:sp>
      <p:sp>
        <p:nvSpPr>
          <p:cNvPr id="35" name="Shape 33"/>
          <p:cNvSpPr/>
          <p:nvPr/>
        </p:nvSpPr>
        <p:spPr>
          <a:xfrm>
            <a:off x="5464454" y="1316736"/>
            <a:ext cx="1602029" cy="2734056"/>
          </a:xfrm>
          <a:prstGeom prst="rect">
            <a:avLst/>
          </a:prstGeom>
          <a:solidFill>
            <a:srgbClr val="1C1F30"/>
          </a:solidFill>
          <a:ln w="9525">
            <a:solidFill>
              <a:srgbClr val="2A2F44"/>
            </a:solidFill>
            <a:prstDash val="solid"/>
          </a:ln>
        </p:spPr>
      </p:sp>
      <p:sp>
        <p:nvSpPr>
          <p:cNvPr id="36" name="Text 34"/>
          <p:cNvSpPr/>
          <p:nvPr/>
        </p:nvSpPr>
        <p:spPr>
          <a:xfrm>
            <a:off x="5592470" y="1444752"/>
            <a:ext cx="1345997"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HYUNDAI</a:t>
            </a:r>
            <a:endParaRPr lang="en-US" sz="800" dirty="0"/>
          </a:p>
        </p:txBody>
      </p:sp>
      <p:sp>
        <p:nvSpPr>
          <p:cNvPr id="37" name="Shape 35"/>
          <p:cNvSpPr/>
          <p:nvPr/>
        </p:nvSpPr>
        <p:spPr>
          <a:xfrm>
            <a:off x="5592470" y="1664208"/>
            <a:ext cx="502920" cy="164592"/>
          </a:xfrm>
          <a:prstGeom prst="roundRect">
            <a:avLst>
              <a:gd name="adj" fmla="val 33333"/>
            </a:avLst>
          </a:prstGeom>
          <a:solidFill>
            <a:srgbClr val="002C5F"/>
          </a:solidFill>
          <a:ln/>
        </p:spPr>
      </p:sp>
      <p:sp>
        <p:nvSpPr>
          <p:cNvPr id="38" name="Text 36"/>
          <p:cNvSpPr/>
          <p:nvPr/>
        </p:nvSpPr>
        <p:spPr>
          <a:xfrm>
            <a:off x="5592470"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ATLAS</a:t>
            </a:r>
            <a:endParaRPr lang="en-US" sz="680" dirty="0"/>
          </a:p>
        </p:txBody>
      </p:sp>
      <p:sp>
        <p:nvSpPr>
          <p:cNvPr id="39" name="Text 37"/>
          <p:cNvSpPr/>
          <p:nvPr/>
        </p:nvSpPr>
        <p:spPr>
          <a:xfrm>
            <a:off x="5592470" y="1883664"/>
            <a:ext cx="1345997"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All-Electric Atlas</a:t>
            </a:r>
            <a:endParaRPr lang="en-US" sz="1300" dirty="0"/>
          </a:p>
        </p:txBody>
      </p:sp>
      <p:sp>
        <p:nvSpPr>
          <p:cNvPr id="40" name="Text 38"/>
          <p:cNvSpPr/>
          <p:nvPr/>
        </p:nvSpPr>
        <p:spPr>
          <a:xfrm>
            <a:off x="5592470" y="2176272"/>
            <a:ext cx="1345997" cy="164592"/>
          </a:xfrm>
          <a:prstGeom prst="rect">
            <a:avLst/>
          </a:prstGeom>
          <a:noFill/>
          <a:ln/>
        </p:spPr>
        <p:txBody>
          <a:bodyPr wrap="square" lIns="0" tIns="0" rIns="0" bIns="0" rtlCol="0" anchor="ctr"/>
          <a:lstStyle/>
          <a:p>
            <a:pPr indent="0" marL="0">
              <a:buNone/>
            </a:pPr>
            <a:r>
              <a:rPr lang="en-US" sz="780" b="1" dirty="0">
                <a:solidFill>
                  <a:srgbClr val="002C5F"/>
                </a:solidFill>
                <a:latin typeface="Pretendard" pitchFamily="34" charset="0"/>
                <a:ea typeface="Pretendard" pitchFamily="34" charset="-122"/>
                <a:cs typeface="Pretendard" pitchFamily="34" charset="-120"/>
              </a:rPr>
              <a:t>2026 양산</a:t>
            </a:r>
            <a:endParaRPr lang="en-US" sz="780" dirty="0"/>
          </a:p>
        </p:txBody>
      </p:sp>
      <p:sp>
        <p:nvSpPr>
          <p:cNvPr id="41" name="Text 39"/>
          <p:cNvSpPr/>
          <p:nvPr/>
        </p:nvSpPr>
        <p:spPr>
          <a:xfrm>
            <a:off x="5592470" y="2359152"/>
            <a:ext cx="1345997"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현대차 그룹 라인</a:t>
            </a:r>
            <a:endParaRPr lang="en-US" sz="900" dirty="0"/>
          </a:p>
        </p:txBody>
      </p:sp>
      <p:sp>
        <p:nvSpPr>
          <p:cNvPr id="42" name="Shape 40"/>
          <p:cNvSpPr/>
          <p:nvPr/>
        </p:nvSpPr>
        <p:spPr>
          <a:xfrm>
            <a:off x="5592470" y="2743200"/>
            <a:ext cx="1345997" cy="0"/>
          </a:xfrm>
          <a:prstGeom prst="line">
            <a:avLst/>
          </a:prstGeom>
          <a:noFill/>
          <a:ln w="6350">
            <a:solidFill>
              <a:srgbClr val="2A2F44"/>
            </a:solidFill>
            <a:prstDash val="solid"/>
          </a:ln>
        </p:spPr>
      </p:sp>
      <p:sp>
        <p:nvSpPr>
          <p:cNvPr id="43" name="Text 41"/>
          <p:cNvSpPr/>
          <p:nvPr/>
        </p:nvSpPr>
        <p:spPr>
          <a:xfrm>
            <a:off x="5592470" y="2834640"/>
            <a:ext cx="1345997"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BD 인수 후 첫 양산</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현대차 공장 적용</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한국 양산</a:t>
            </a:r>
            <a:endParaRPr lang="en-US" sz="840" dirty="0"/>
          </a:p>
        </p:txBody>
      </p:sp>
      <p:sp>
        <p:nvSpPr>
          <p:cNvPr id="44" name="Shape 42"/>
          <p:cNvSpPr/>
          <p:nvPr/>
        </p:nvSpPr>
        <p:spPr>
          <a:xfrm>
            <a:off x="7157923" y="1261872"/>
            <a:ext cx="1602029" cy="54864"/>
          </a:xfrm>
          <a:prstGeom prst="rect">
            <a:avLst/>
          </a:prstGeom>
          <a:solidFill>
            <a:srgbClr val="5A9CFF"/>
          </a:solidFill>
          <a:ln/>
        </p:spPr>
      </p:sp>
      <p:sp>
        <p:nvSpPr>
          <p:cNvPr id="45" name="Shape 43"/>
          <p:cNvSpPr/>
          <p:nvPr/>
        </p:nvSpPr>
        <p:spPr>
          <a:xfrm>
            <a:off x="7157923" y="1316736"/>
            <a:ext cx="1602029" cy="2734056"/>
          </a:xfrm>
          <a:prstGeom prst="rect">
            <a:avLst/>
          </a:prstGeom>
          <a:solidFill>
            <a:srgbClr val="1C1F30"/>
          </a:solidFill>
          <a:ln w="9525">
            <a:solidFill>
              <a:srgbClr val="2A2F44"/>
            </a:solidFill>
            <a:prstDash val="solid"/>
          </a:ln>
        </p:spPr>
      </p:sp>
      <p:sp>
        <p:nvSpPr>
          <p:cNvPr id="46" name="Text 44"/>
          <p:cNvSpPr/>
          <p:nvPr/>
        </p:nvSpPr>
        <p:spPr>
          <a:xfrm>
            <a:off x="7285939" y="1444752"/>
            <a:ext cx="1345997"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1X</a:t>
            </a:r>
            <a:endParaRPr lang="en-US" sz="800" dirty="0"/>
          </a:p>
        </p:txBody>
      </p:sp>
      <p:sp>
        <p:nvSpPr>
          <p:cNvPr id="47" name="Shape 45"/>
          <p:cNvSpPr/>
          <p:nvPr/>
        </p:nvSpPr>
        <p:spPr>
          <a:xfrm>
            <a:off x="7285939" y="1664208"/>
            <a:ext cx="502920" cy="164592"/>
          </a:xfrm>
          <a:prstGeom prst="roundRect">
            <a:avLst>
              <a:gd name="adj" fmla="val 33333"/>
            </a:avLst>
          </a:prstGeom>
          <a:solidFill>
            <a:srgbClr val="5A9CFF"/>
          </a:solidFill>
          <a:ln/>
        </p:spPr>
      </p:sp>
      <p:sp>
        <p:nvSpPr>
          <p:cNvPr id="48" name="Text 46"/>
          <p:cNvSpPr/>
          <p:nvPr/>
        </p:nvSpPr>
        <p:spPr>
          <a:xfrm>
            <a:off x="7285939"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HOME</a:t>
            </a:r>
            <a:endParaRPr lang="en-US" sz="680" dirty="0"/>
          </a:p>
        </p:txBody>
      </p:sp>
      <p:sp>
        <p:nvSpPr>
          <p:cNvPr id="49" name="Text 47"/>
          <p:cNvSpPr/>
          <p:nvPr/>
        </p:nvSpPr>
        <p:spPr>
          <a:xfrm>
            <a:off x="7285939" y="1883664"/>
            <a:ext cx="1345997"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NEO Gamma</a:t>
            </a:r>
            <a:endParaRPr lang="en-US" sz="1300" dirty="0"/>
          </a:p>
        </p:txBody>
      </p:sp>
      <p:sp>
        <p:nvSpPr>
          <p:cNvPr id="50" name="Text 48"/>
          <p:cNvSpPr/>
          <p:nvPr/>
        </p:nvSpPr>
        <p:spPr>
          <a:xfrm>
            <a:off x="7285939" y="2176272"/>
            <a:ext cx="1345997" cy="164592"/>
          </a:xfrm>
          <a:prstGeom prst="rect">
            <a:avLst/>
          </a:prstGeom>
          <a:noFill/>
          <a:ln/>
        </p:spPr>
        <p:txBody>
          <a:bodyPr wrap="square" lIns="0" tIns="0" rIns="0" bIns="0" rtlCol="0" anchor="ctr"/>
          <a:lstStyle/>
          <a:p>
            <a:pPr indent="0" marL="0">
              <a:buNone/>
            </a:pPr>
            <a:r>
              <a:rPr lang="en-US" sz="780" b="1" dirty="0">
                <a:solidFill>
                  <a:srgbClr val="5A9CFF"/>
                </a:solidFill>
                <a:latin typeface="Pretendard" pitchFamily="34" charset="0"/>
                <a:ea typeface="Pretendard" pitchFamily="34" charset="-122"/>
                <a:cs typeface="Pretendard" pitchFamily="34" charset="-120"/>
              </a:rPr>
              <a:t>2026 출시</a:t>
            </a:r>
            <a:endParaRPr lang="en-US" sz="780" dirty="0"/>
          </a:p>
        </p:txBody>
      </p:sp>
      <p:sp>
        <p:nvSpPr>
          <p:cNvPr id="51" name="Text 49"/>
          <p:cNvSpPr/>
          <p:nvPr/>
        </p:nvSpPr>
        <p:spPr>
          <a:xfrm>
            <a:off x="7285939" y="2359152"/>
            <a:ext cx="1345997"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가정용 휴머노이드</a:t>
            </a:r>
            <a:endParaRPr lang="en-US" sz="900" dirty="0"/>
          </a:p>
        </p:txBody>
      </p:sp>
      <p:sp>
        <p:nvSpPr>
          <p:cNvPr id="52" name="Shape 50"/>
          <p:cNvSpPr/>
          <p:nvPr/>
        </p:nvSpPr>
        <p:spPr>
          <a:xfrm>
            <a:off x="7285939" y="2743200"/>
            <a:ext cx="1345997" cy="0"/>
          </a:xfrm>
          <a:prstGeom prst="line">
            <a:avLst/>
          </a:prstGeom>
          <a:noFill/>
          <a:ln w="6350">
            <a:solidFill>
              <a:srgbClr val="2A2F44"/>
            </a:solidFill>
            <a:prstDash val="solid"/>
          </a:ln>
        </p:spPr>
      </p:sp>
      <p:sp>
        <p:nvSpPr>
          <p:cNvPr id="53" name="Text 51"/>
          <p:cNvSpPr/>
          <p:nvPr/>
        </p:nvSpPr>
        <p:spPr>
          <a:xfrm>
            <a:off x="7285939" y="2834640"/>
            <a:ext cx="1345997"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가정 환경 특화</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OpenAI 투자</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Tendon-driven</a:t>
            </a:r>
            <a:endParaRPr lang="en-US" sz="840" dirty="0"/>
          </a:p>
        </p:txBody>
      </p:sp>
      <p:sp>
        <p:nvSpPr>
          <p:cNvPr id="54" name="Text 52"/>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5종</a:t>
            </a:r>
            <a:endParaRPr lang="en-US" sz="1600" dirty="0"/>
          </a:p>
        </p:txBody>
      </p:sp>
      <p:sp>
        <p:nvSpPr>
          <p:cNvPr id="55" name="Text 53"/>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2026 양산 모델</a:t>
            </a:r>
            <a:endParaRPr lang="en-US" sz="750" dirty="0"/>
          </a:p>
        </p:txBody>
      </p:sp>
      <p:sp>
        <p:nvSpPr>
          <p:cNvPr id="56" name="Text 54"/>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$16K~$30K</a:t>
            </a:r>
            <a:endParaRPr lang="en-US" sz="1600" dirty="0"/>
          </a:p>
        </p:txBody>
      </p:sp>
      <p:sp>
        <p:nvSpPr>
          <p:cNvPr id="57" name="Text 55"/>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가격 범위</a:t>
            </a:r>
            <a:endParaRPr lang="en-US" sz="750" dirty="0"/>
          </a:p>
        </p:txBody>
      </p:sp>
      <p:sp>
        <p:nvSpPr>
          <p:cNvPr id="58" name="Text 56"/>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3개국</a:t>
            </a:r>
            <a:endParaRPr lang="en-US" sz="1600" dirty="0"/>
          </a:p>
        </p:txBody>
      </p:sp>
      <p:sp>
        <p:nvSpPr>
          <p:cNvPr id="59" name="Text 57"/>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양산 거점 (US/CN/KR)</a:t>
            </a:r>
            <a:endParaRPr lang="en-US" sz="750" dirty="0"/>
          </a:p>
        </p:txBody>
      </p:sp>
      <p:sp>
        <p:nvSpPr>
          <p:cNvPr id="60" name="Text 58"/>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10K+</a:t>
            </a:r>
            <a:endParaRPr lang="en-US" sz="1600" dirty="0"/>
          </a:p>
        </p:txBody>
      </p:sp>
      <p:sp>
        <p:nvSpPr>
          <p:cNvPr id="61" name="Text 59"/>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예상 첫해 출하</a:t>
            </a:r>
            <a:endParaRPr lang="en-US" sz="750" dirty="0"/>
          </a:p>
        </p:txBody>
      </p:sp>
      <p:pic>
        <p:nvPicPr>
          <p:cNvPr id="62"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63" name="Text 60"/>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64" name="Text 61"/>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4000" spc="-120" kern="0" dirty="0">
                <a:solidFill>
                  <a:srgbClr val="FFFFFF"/>
                </a:solidFill>
                <a:latin typeface="Pretendard" pitchFamily="34" charset="0"/>
                <a:ea typeface="Pretendard" pitchFamily="34" charset="-122"/>
                <a:cs typeface="Pretendard" pitchFamily="34" charset="-120"/>
              </a:rPr>
              <a:t>Part 2</a:t>
            </a:r>
            <a:endParaRPr lang="en-US" sz="40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Simulation Stack on AWS</a:t>
            </a:r>
            <a:endParaRPr lang="en-US" sz="2200" dirty="0"/>
          </a:p>
        </p:txBody>
      </p:sp>
      <p:pic>
        <p:nvPicPr>
          <p:cNvPr id="4" name="Image 0" descr="/home/claude/aws_logo_white.png">    </p:cNvPr>
          <p:cNvPicPr>
            <a:picLocks noChangeAspect="1"/>
          </p:cNvPicPr>
          <p:nvPr/>
        </p:nvPicPr>
        <p:blipFill>
          <a:blip r:embed="rId2"/>
          <a:stretch>
            <a:fillRect/>
          </a:stretch>
        </p:blipFill>
        <p:spPr>
          <a:xfrm>
            <a:off x="384048" y="4762195"/>
            <a:ext cx="315468" cy="210312"/>
          </a:xfrm>
          <a:prstGeom prst="rect">
            <a:avLst/>
          </a:prstGeom>
        </p:spPr>
      </p:pic>
      <p:sp>
        <p:nvSpPr>
          <p:cNvPr id="5" name="Text 2"/>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6" name="Text 3"/>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시뮬레이터 3종 비교</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Isaac Sim · Genesis · MuJoCo의 아키텍처와 강점</a:t>
            </a:r>
            <a:endParaRPr lang="en-US" sz="1200" dirty="0"/>
          </a:p>
        </p:txBody>
      </p:sp>
      <p:sp>
        <p:nvSpPr>
          <p:cNvPr id="4" name="Shape 2"/>
          <p:cNvSpPr/>
          <p:nvPr/>
        </p:nvSpPr>
        <p:spPr>
          <a:xfrm>
            <a:off x="384048" y="1261872"/>
            <a:ext cx="2731008" cy="54864"/>
          </a:xfrm>
          <a:prstGeom prst="rect">
            <a:avLst/>
          </a:prstGeom>
          <a:solidFill>
            <a:srgbClr val="76B900"/>
          </a:solidFill>
          <a:ln/>
        </p:spPr>
      </p:sp>
      <p:sp>
        <p:nvSpPr>
          <p:cNvPr id="5" name="Shape 3"/>
          <p:cNvSpPr/>
          <p:nvPr/>
        </p:nvSpPr>
        <p:spPr>
          <a:xfrm>
            <a:off x="384048" y="1316736"/>
            <a:ext cx="2731008" cy="2734056"/>
          </a:xfrm>
          <a:prstGeom prst="rect">
            <a:avLst/>
          </a:prstGeom>
          <a:solidFill>
            <a:srgbClr val="1C1F30"/>
          </a:solidFill>
          <a:ln w="9525">
            <a:solidFill>
              <a:srgbClr val="2A2F44"/>
            </a:solidFill>
            <a:prstDash val="solid"/>
          </a:ln>
        </p:spPr>
      </p:sp>
      <p:sp>
        <p:nvSpPr>
          <p:cNvPr id="6" name="Text 4"/>
          <p:cNvSpPr/>
          <p:nvPr/>
        </p:nvSpPr>
        <p:spPr>
          <a:xfrm>
            <a:off x="512064" y="1444752"/>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NVIDIA</a:t>
            </a:r>
            <a:endParaRPr lang="en-US" sz="800" dirty="0"/>
          </a:p>
        </p:txBody>
      </p:sp>
      <p:sp>
        <p:nvSpPr>
          <p:cNvPr id="7" name="Shape 5"/>
          <p:cNvSpPr/>
          <p:nvPr/>
        </p:nvSpPr>
        <p:spPr>
          <a:xfrm>
            <a:off x="512064" y="1664208"/>
            <a:ext cx="502920" cy="164592"/>
          </a:xfrm>
          <a:prstGeom prst="roundRect">
            <a:avLst>
              <a:gd name="adj" fmla="val 33333"/>
            </a:avLst>
          </a:prstGeom>
          <a:solidFill>
            <a:srgbClr val="76B900"/>
          </a:solidFill>
          <a:ln/>
        </p:spPr>
      </p:sp>
      <p:sp>
        <p:nvSpPr>
          <p:cNvPr id="8" name="Text 6"/>
          <p:cNvSpPr/>
          <p:nvPr/>
        </p:nvSpPr>
        <p:spPr>
          <a:xfrm>
            <a:off x="512064"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GPU</a:t>
            </a:r>
            <a:endParaRPr lang="en-US" sz="680" dirty="0"/>
          </a:p>
        </p:txBody>
      </p:sp>
      <p:sp>
        <p:nvSpPr>
          <p:cNvPr id="9" name="Text 7"/>
          <p:cNvSpPr/>
          <p:nvPr/>
        </p:nvSpPr>
        <p:spPr>
          <a:xfrm>
            <a:off x="512064" y="1883664"/>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Isaac Sim</a:t>
            </a:r>
            <a:endParaRPr lang="en-US" sz="1300" dirty="0"/>
          </a:p>
        </p:txBody>
      </p:sp>
      <p:sp>
        <p:nvSpPr>
          <p:cNvPr id="10" name="Text 8"/>
          <p:cNvSpPr/>
          <p:nvPr/>
        </p:nvSpPr>
        <p:spPr>
          <a:xfrm>
            <a:off x="512064" y="2176272"/>
            <a:ext cx="2474976" cy="164592"/>
          </a:xfrm>
          <a:prstGeom prst="rect">
            <a:avLst/>
          </a:prstGeom>
          <a:noFill/>
          <a:ln/>
        </p:spPr>
        <p:txBody>
          <a:bodyPr wrap="square" lIns="0" tIns="0" rIns="0" bIns="0" rtlCol="0" anchor="ctr"/>
          <a:lstStyle/>
          <a:p>
            <a:pPr indent="0" marL="0">
              <a:buNone/>
            </a:pPr>
            <a:r>
              <a:rPr lang="en-US" sz="780" b="1" dirty="0">
                <a:solidFill>
                  <a:srgbClr val="76B900"/>
                </a:solidFill>
                <a:latin typeface="Pretendard" pitchFamily="34" charset="0"/>
                <a:ea typeface="Pretendard" pitchFamily="34" charset="-122"/>
                <a:cs typeface="Pretendard" pitchFamily="34" charset="-120"/>
              </a:rPr>
              <a:t>Omniverse 기반</a:t>
            </a:r>
            <a:endParaRPr lang="en-US" sz="780" dirty="0"/>
          </a:p>
        </p:txBody>
      </p:sp>
      <p:sp>
        <p:nvSpPr>
          <p:cNvPr id="11" name="Text 9"/>
          <p:cNvSpPr/>
          <p:nvPr/>
        </p:nvSpPr>
        <p:spPr>
          <a:xfrm>
            <a:off x="512064" y="2359152"/>
            <a:ext cx="2474976"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GPU 병렬, USD 포맷, ROS2 통합</a:t>
            </a:r>
            <a:endParaRPr lang="en-US" sz="900" dirty="0"/>
          </a:p>
        </p:txBody>
      </p:sp>
      <p:sp>
        <p:nvSpPr>
          <p:cNvPr id="12" name="Shape 10"/>
          <p:cNvSpPr/>
          <p:nvPr/>
        </p:nvSpPr>
        <p:spPr>
          <a:xfrm>
            <a:off x="512064" y="2743200"/>
            <a:ext cx="2474976" cy="0"/>
          </a:xfrm>
          <a:prstGeom prst="line">
            <a:avLst/>
          </a:prstGeom>
          <a:noFill/>
          <a:ln w="6350">
            <a:solidFill>
              <a:srgbClr val="2A2F44"/>
            </a:solidFill>
            <a:prstDash val="solid"/>
          </a:ln>
        </p:spPr>
      </p:sp>
      <p:sp>
        <p:nvSpPr>
          <p:cNvPr id="13" name="Text 11"/>
          <p:cNvSpPr/>
          <p:nvPr/>
        </p:nvSpPr>
        <p:spPr>
          <a:xfrm>
            <a:off x="512064" y="2834640"/>
            <a:ext cx="2474976"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단일 머신 1만 환경 동시 실행</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PhysX 5 정확도 검증</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Isaac Lab으로 RL 학습 직결</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Cosmos WFM과 결합 가능</a:t>
            </a:r>
            <a:endParaRPr lang="en-US" sz="840" dirty="0"/>
          </a:p>
        </p:txBody>
      </p:sp>
      <p:sp>
        <p:nvSpPr>
          <p:cNvPr id="14" name="Shape 12"/>
          <p:cNvSpPr/>
          <p:nvPr/>
        </p:nvSpPr>
        <p:spPr>
          <a:xfrm>
            <a:off x="3206496" y="1261872"/>
            <a:ext cx="2731008" cy="54864"/>
          </a:xfrm>
          <a:prstGeom prst="rect">
            <a:avLst/>
          </a:prstGeom>
          <a:solidFill>
            <a:srgbClr val="1FBA8C"/>
          </a:solidFill>
          <a:ln/>
        </p:spPr>
      </p:sp>
      <p:sp>
        <p:nvSpPr>
          <p:cNvPr id="15" name="Shape 13"/>
          <p:cNvSpPr/>
          <p:nvPr/>
        </p:nvSpPr>
        <p:spPr>
          <a:xfrm>
            <a:off x="3206496" y="1316736"/>
            <a:ext cx="2731008" cy="2734056"/>
          </a:xfrm>
          <a:prstGeom prst="rect">
            <a:avLst/>
          </a:prstGeom>
          <a:solidFill>
            <a:srgbClr val="1C1F30"/>
          </a:solidFill>
          <a:ln w="9525">
            <a:solidFill>
              <a:srgbClr val="2A2F44"/>
            </a:solidFill>
            <a:prstDash val="solid"/>
          </a:ln>
        </p:spPr>
      </p:sp>
      <p:sp>
        <p:nvSpPr>
          <p:cNvPr id="16" name="Text 14"/>
          <p:cNvSpPr/>
          <p:nvPr/>
        </p:nvSpPr>
        <p:spPr>
          <a:xfrm>
            <a:off x="3334512" y="1444752"/>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GENESIS</a:t>
            </a:r>
            <a:endParaRPr lang="en-US" sz="800" dirty="0"/>
          </a:p>
        </p:txBody>
      </p:sp>
      <p:sp>
        <p:nvSpPr>
          <p:cNvPr id="17" name="Shape 15"/>
          <p:cNvSpPr/>
          <p:nvPr/>
        </p:nvSpPr>
        <p:spPr>
          <a:xfrm>
            <a:off x="3334512" y="1664208"/>
            <a:ext cx="502920" cy="164592"/>
          </a:xfrm>
          <a:prstGeom prst="roundRect">
            <a:avLst>
              <a:gd name="adj" fmla="val 33333"/>
            </a:avLst>
          </a:prstGeom>
          <a:solidFill>
            <a:srgbClr val="1FBA8C"/>
          </a:solidFill>
          <a:ln/>
        </p:spPr>
      </p:sp>
      <p:sp>
        <p:nvSpPr>
          <p:cNvPr id="18" name="Text 16"/>
          <p:cNvSpPr/>
          <p:nvPr/>
        </p:nvSpPr>
        <p:spPr>
          <a:xfrm>
            <a:off x="3334512"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OSS</a:t>
            </a:r>
            <a:endParaRPr lang="en-US" sz="680" dirty="0"/>
          </a:p>
        </p:txBody>
      </p:sp>
      <p:sp>
        <p:nvSpPr>
          <p:cNvPr id="19" name="Text 17"/>
          <p:cNvSpPr/>
          <p:nvPr/>
        </p:nvSpPr>
        <p:spPr>
          <a:xfrm>
            <a:off x="3334512" y="1883664"/>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Genesis</a:t>
            </a:r>
            <a:endParaRPr lang="en-US" sz="1300" dirty="0"/>
          </a:p>
        </p:txBody>
      </p:sp>
      <p:sp>
        <p:nvSpPr>
          <p:cNvPr id="20" name="Text 18"/>
          <p:cNvSpPr/>
          <p:nvPr/>
        </p:nvSpPr>
        <p:spPr>
          <a:xfrm>
            <a:off x="3334512" y="2176272"/>
            <a:ext cx="2474976" cy="164592"/>
          </a:xfrm>
          <a:prstGeom prst="rect">
            <a:avLst/>
          </a:prstGeom>
          <a:noFill/>
          <a:ln/>
        </p:spPr>
        <p:txBody>
          <a:bodyPr wrap="square" lIns="0" tIns="0" rIns="0" bIns="0" rtlCol="0" anchor="ctr"/>
          <a:lstStyle/>
          <a:p>
            <a:pPr indent="0" marL="0">
              <a:buNone/>
            </a:pPr>
            <a:r>
              <a:rPr lang="en-US" sz="780" b="1" dirty="0">
                <a:solidFill>
                  <a:srgbClr val="1FBA8C"/>
                </a:solidFill>
                <a:latin typeface="Pretendard" pitchFamily="34" charset="0"/>
                <a:ea typeface="Pretendard" pitchFamily="34" charset="-122"/>
                <a:cs typeface="Pretendard" pitchFamily="34" charset="-120"/>
              </a:rPr>
              <a:t>오픈소스 (2024)</a:t>
            </a:r>
            <a:endParaRPr lang="en-US" sz="780" dirty="0"/>
          </a:p>
        </p:txBody>
      </p:sp>
      <p:sp>
        <p:nvSpPr>
          <p:cNvPr id="21" name="Text 19"/>
          <p:cNvSpPr/>
          <p:nvPr/>
        </p:nvSpPr>
        <p:spPr>
          <a:xfrm>
            <a:off x="3334512" y="2359152"/>
            <a:ext cx="2474976"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Pythonic, 단일 GPU 매우 빠름</a:t>
            </a:r>
            <a:endParaRPr lang="en-US" sz="900" dirty="0"/>
          </a:p>
        </p:txBody>
      </p:sp>
      <p:sp>
        <p:nvSpPr>
          <p:cNvPr id="22" name="Shape 20"/>
          <p:cNvSpPr/>
          <p:nvPr/>
        </p:nvSpPr>
        <p:spPr>
          <a:xfrm>
            <a:off x="3334512" y="2743200"/>
            <a:ext cx="2474976" cy="0"/>
          </a:xfrm>
          <a:prstGeom prst="line">
            <a:avLst/>
          </a:prstGeom>
          <a:noFill/>
          <a:ln w="6350">
            <a:solidFill>
              <a:srgbClr val="2A2F44"/>
            </a:solidFill>
            <a:prstDash val="solid"/>
          </a:ln>
        </p:spPr>
      </p:sp>
      <p:sp>
        <p:nvSpPr>
          <p:cNvPr id="23" name="Text 21"/>
          <p:cNvSpPr/>
          <p:nvPr/>
        </p:nvSpPr>
        <p:spPr>
          <a:xfrm>
            <a:off x="3334512" y="2834640"/>
            <a:ext cx="2474976"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PyTorch 네이티브</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수십 배 throughput</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differentiable physics</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학계·스타트업 선호</a:t>
            </a:r>
            <a:endParaRPr lang="en-US" sz="840" dirty="0"/>
          </a:p>
        </p:txBody>
      </p:sp>
      <p:sp>
        <p:nvSpPr>
          <p:cNvPr id="24" name="Shape 22"/>
          <p:cNvSpPr/>
          <p:nvPr/>
        </p:nvSpPr>
        <p:spPr>
          <a:xfrm>
            <a:off x="6028944" y="1261872"/>
            <a:ext cx="2731008" cy="54864"/>
          </a:xfrm>
          <a:prstGeom prst="rect">
            <a:avLst/>
          </a:prstGeom>
          <a:solidFill>
            <a:srgbClr val="4285F4"/>
          </a:solidFill>
          <a:ln/>
        </p:spPr>
      </p:sp>
      <p:sp>
        <p:nvSpPr>
          <p:cNvPr id="25" name="Shape 23"/>
          <p:cNvSpPr/>
          <p:nvPr/>
        </p:nvSpPr>
        <p:spPr>
          <a:xfrm>
            <a:off x="6028944" y="1316736"/>
            <a:ext cx="2731008" cy="2734056"/>
          </a:xfrm>
          <a:prstGeom prst="rect">
            <a:avLst/>
          </a:prstGeom>
          <a:solidFill>
            <a:srgbClr val="1C1F30"/>
          </a:solidFill>
          <a:ln w="9525">
            <a:solidFill>
              <a:srgbClr val="2A2F44"/>
            </a:solidFill>
            <a:prstDash val="solid"/>
          </a:ln>
        </p:spPr>
      </p:sp>
      <p:sp>
        <p:nvSpPr>
          <p:cNvPr id="26" name="Text 24"/>
          <p:cNvSpPr/>
          <p:nvPr/>
        </p:nvSpPr>
        <p:spPr>
          <a:xfrm>
            <a:off x="6156960" y="1444752"/>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GOOGLE DEEPMIND</a:t>
            </a:r>
            <a:endParaRPr lang="en-US" sz="800" dirty="0"/>
          </a:p>
        </p:txBody>
      </p:sp>
      <p:sp>
        <p:nvSpPr>
          <p:cNvPr id="27" name="Shape 25"/>
          <p:cNvSpPr/>
          <p:nvPr/>
        </p:nvSpPr>
        <p:spPr>
          <a:xfrm>
            <a:off x="6156960" y="1664208"/>
            <a:ext cx="502920" cy="164592"/>
          </a:xfrm>
          <a:prstGeom prst="roundRect">
            <a:avLst>
              <a:gd name="adj" fmla="val 33333"/>
            </a:avLst>
          </a:prstGeom>
          <a:solidFill>
            <a:srgbClr val="4285F4"/>
          </a:solidFill>
          <a:ln/>
        </p:spPr>
      </p:sp>
      <p:sp>
        <p:nvSpPr>
          <p:cNvPr id="28" name="Text 26"/>
          <p:cNvSpPr/>
          <p:nvPr/>
        </p:nvSpPr>
        <p:spPr>
          <a:xfrm>
            <a:off x="6156960"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REF</a:t>
            </a:r>
            <a:endParaRPr lang="en-US" sz="680" dirty="0"/>
          </a:p>
        </p:txBody>
      </p:sp>
      <p:sp>
        <p:nvSpPr>
          <p:cNvPr id="29" name="Text 27"/>
          <p:cNvSpPr/>
          <p:nvPr/>
        </p:nvSpPr>
        <p:spPr>
          <a:xfrm>
            <a:off x="6156960" y="1883664"/>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MuJoCo</a:t>
            </a:r>
            <a:endParaRPr lang="en-US" sz="1300" dirty="0"/>
          </a:p>
        </p:txBody>
      </p:sp>
      <p:sp>
        <p:nvSpPr>
          <p:cNvPr id="30" name="Text 28"/>
          <p:cNvSpPr/>
          <p:nvPr/>
        </p:nvSpPr>
        <p:spPr>
          <a:xfrm>
            <a:off x="6156960" y="2176272"/>
            <a:ext cx="2474976" cy="164592"/>
          </a:xfrm>
          <a:prstGeom prst="rect">
            <a:avLst/>
          </a:prstGeom>
          <a:noFill/>
          <a:ln/>
        </p:spPr>
        <p:txBody>
          <a:bodyPr wrap="square" lIns="0" tIns="0" rIns="0" bIns="0" rtlCol="0" anchor="ctr"/>
          <a:lstStyle/>
          <a:p>
            <a:pPr indent="0" marL="0">
              <a:buNone/>
            </a:pPr>
            <a:r>
              <a:rPr lang="en-US" sz="780" b="1" dirty="0">
                <a:solidFill>
                  <a:srgbClr val="4285F4"/>
                </a:solidFill>
                <a:latin typeface="Pretendard" pitchFamily="34" charset="0"/>
                <a:ea typeface="Pretendard" pitchFamily="34" charset="-122"/>
                <a:cs typeface="Pretendard" pitchFamily="34" charset="-120"/>
              </a:rPr>
              <a:t>오픈소스 표준</a:t>
            </a:r>
            <a:endParaRPr lang="en-US" sz="780" dirty="0"/>
          </a:p>
        </p:txBody>
      </p:sp>
      <p:sp>
        <p:nvSpPr>
          <p:cNvPr id="31" name="Text 29"/>
          <p:cNvSpPr/>
          <p:nvPr/>
        </p:nvSpPr>
        <p:spPr>
          <a:xfrm>
            <a:off x="6156960" y="2359152"/>
            <a:ext cx="2474976"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정확한 contact, 학계 표준</a:t>
            </a:r>
            <a:endParaRPr lang="en-US" sz="900" dirty="0"/>
          </a:p>
        </p:txBody>
      </p:sp>
      <p:sp>
        <p:nvSpPr>
          <p:cNvPr id="32" name="Shape 30"/>
          <p:cNvSpPr/>
          <p:nvPr/>
        </p:nvSpPr>
        <p:spPr>
          <a:xfrm>
            <a:off x="6156960" y="2743200"/>
            <a:ext cx="2474976" cy="0"/>
          </a:xfrm>
          <a:prstGeom prst="line">
            <a:avLst/>
          </a:prstGeom>
          <a:noFill/>
          <a:ln w="6350">
            <a:solidFill>
              <a:srgbClr val="2A2F44"/>
            </a:solidFill>
            <a:prstDash val="solid"/>
          </a:ln>
        </p:spPr>
      </p:sp>
      <p:sp>
        <p:nvSpPr>
          <p:cNvPr id="33" name="Text 31"/>
          <p:cNvSpPr/>
          <p:nvPr/>
        </p:nvSpPr>
        <p:spPr>
          <a:xfrm>
            <a:off x="6156960" y="2834640"/>
            <a:ext cx="2474976"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20년 검증된 솔버</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RL 논문 표준 환경</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MJX로 GPU 가속</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다양한 모델 zoo</a:t>
            </a:r>
            <a:endParaRPr lang="en-US" sz="840" dirty="0"/>
          </a:p>
        </p:txBody>
      </p:sp>
      <p:sp>
        <p:nvSpPr>
          <p:cNvPr id="34" name="Text 32"/>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10K+</a:t>
            </a:r>
            <a:endParaRPr lang="en-US" sz="1600" dirty="0"/>
          </a:p>
        </p:txBody>
      </p:sp>
      <p:sp>
        <p:nvSpPr>
          <p:cNvPr id="35" name="Text 33"/>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Isaac Sim 병렬 환경</a:t>
            </a:r>
            <a:endParaRPr lang="en-US" sz="750" dirty="0"/>
          </a:p>
        </p:txBody>
      </p:sp>
      <p:sp>
        <p:nvSpPr>
          <p:cNvPr id="36" name="Text 34"/>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10x</a:t>
            </a:r>
            <a:endParaRPr lang="en-US" sz="1600" dirty="0"/>
          </a:p>
        </p:txBody>
      </p:sp>
      <p:sp>
        <p:nvSpPr>
          <p:cNvPr id="37" name="Text 35"/>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Genesis 속도 우위</a:t>
            </a:r>
            <a:endParaRPr lang="en-US" sz="750" dirty="0"/>
          </a:p>
        </p:txBody>
      </p:sp>
      <p:sp>
        <p:nvSpPr>
          <p:cNvPr id="38" name="Text 36"/>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20년</a:t>
            </a:r>
            <a:endParaRPr lang="en-US" sz="1600" dirty="0"/>
          </a:p>
        </p:txBody>
      </p:sp>
      <p:sp>
        <p:nvSpPr>
          <p:cNvPr id="39" name="Text 37"/>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MuJoCo 검증 기간</a:t>
            </a:r>
            <a:endParaRPr lang="en-US" sz="750" dirty="0"/>
          </a:p>
        </p:txBody>
      </p:sp>
      <p:sp>
        <p:nvSpPr>
          <p:cNvPr id="40" name="Text 38"/>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3종 모두</a:t>
            </a:r>
            <a:endParaRPr lang="en-US" sz="1600" dirty="0"/>
          </a:p>
        </p:txBody>
      </p:sp>
      <p:sp>
        <p:nvSpPr>
          <p:cNvPr id="41" name="Text 39"/>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AWS EC2에서 실행</a:t>
            </a:r>
            <a:endParaRPr lang="en-US" sz="750" dirty="0"/>
          </a:p>
        </p:txBody>
      </p:sp>
      <p:pic>
        <p:nvPicPr>
          <p:cNvPr id="42"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43" name="Text 40"/>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44" name="Text 41"/>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Physical AI Flywheel</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데이터 → 학습 → 시뮬 → 배포 → 데이터 (반복)</a:t>
            </a:r>
            <a:endParaRPr lang="en-US" sz="1200" dirty="0"/>
          </a:p>
        </p:txBody>
      </p:sp>
      <p:sp>
        <p:nvSpPr>
          <p:cNvPr id="4" name="Shape 2"/>
          <p:cNvSpPr/>
          <p:nvPr/>
        </p:nvSpPr>
        <p:spPr>
          <a:xfrm>
            <a:off x="457200" y="1261872"/>
            <a:ext cx="1691640" cy="777240"/>
          </a:xfrm>
          <a:prstGeom prst="rect">
            <a:avLst/>
          </a:prstGeom>
          <a:solidFill>
            <a:srgbClr val="1C1F30"/>
          </a:solidFill>
          <a:ln w="9525">
            <a:solidFill>
              <a:srgbClr val="2A2F44"/>
            </a:solidFill>
            <a:prstDash val="solid"/>
          </a:ln>
        </p:spPr>
      </p:sp>
      <p:sp>
        <p:nvSpPr>
          <p:cNvPr id="5" name="Text 3"/>
          <p:cNvSpPr/>
          <p:nvPr/>
        </p:nvSpPr>
        <p:spPr>
          <a:xfrm>
            <a:off x="548640" y="1353312"/>
            <a:ext cx="1508760"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1. 수집</a:t>
            </a:r>
            <a:endParaRPr lang="en-US" sz="1300" dirty="0"/>
          </a:p>
        </p:txBody>
      </p:sp>
      <p:sp>
        <p:nvSpPr>
          <p:cNvPr id="6" name="Text 4"/>
          <p:cNvSpPr/>
          <p:nvPr/>
        </p:nvSpPr>
        <p:spPr>
          <a:xfrm>
            <a:off x="548640" y="1645920"/>
            <a:ext cx="1508760" cy="256032"/>
          </a:xfrm>
          <a:prstGeom prst="rect">
            <a:avLst/>
          </a:prstGeom>
          <a:noFill/>
          <a:ln/>
        </p:spPr>
        <p:txBody>
          <a:bodyPr wrap="square" lIns="0" tIns="0" rIns="0" bIns="0" rtlCol="0" anchor="ctr"/>
          <a:lstStyle/>
          <a:p>
            <a:pPr indent="0" marL="0">
              <a:buNone/>
            </a:pPr>
            <a:r>
              <a:rPr lang="en-US" sz="900" dirty="0">
                <a:solidFill>
                  <a:srgbClr val="FF693C"/>
                </a:solidFill>
                <a:latin typeface="Pretendard" pitchFamily="34" charset="0"/>
                <a:ea typeface="Pretendard" pitchFamily="34" charset="-122"/>
                <a:cs typeface="Pretendard" pitchFamily="34" charset="-120"/>
              </a:rPr>
              <a:t>Real + Sim Data</a:t>
            </a:r>
            <a:endParaRPr lang="en-US" sz="900" dirty="0"/>
          </a:p>
        </p:txBody>
      </p:sp>
      <p:sp>
        <p:nvSpPr>
          <p:cNvPr id="7" name="Text 5"/>
          <p:cNvSpPr/>
          <p:nvPr/>
        </p:nvSpPr>
        <p:spPr>
          <a:xfrm>
            <a:off x="2148840" y="1536192"/>
            <a:ext cx="329184" cy="274320"/>
          </a:xfrm>
          <a:prstGeom prst="rect">
            <a:avLst/>
          </a:prstGeom>
          <a:noFill/>
          <a:ln/>
        </p:spPr>
        <p:txBody>
          <a:bodyPr wrap="square" lIns="0" tIns="0" rIns="0" bIns="0" rtlCol="0" anchor="ctr"/>
          <a:lstStyle/>
          <a:p>
            <a:pPr algn="ctr" indent="0" marL="0">
              <a:buNone/>
            </a:pPr>
            <a:r>
              <a:rPr lang="en-US" sz="1800" dirty="0">
                <a:solidFill>
                  <a:srgbClr val="A6ABBE"/>
                </a:solidFill>
                <a:latin typeface="Pretendard" pitchFamily="34" charset="0"/>
                <a:ea typeface="Pretendard" pitchFamily="34" charset="-122"/>
                <a:cs typeface="Pretendard" pitchFamily="34" charset="-120"/>
              </a:rPr>
              <a:t>→</a:t>
            </a:r>
            <a:endParaRPr lang="en-US" sz="1800" dirty="0"/>
          </a:p>
        </p:txBody>
      </p:sp>
      <p:sp>
        <p:nvSpPr>
          <p:cNvPr id="8" name="Shape 6"/>
          <p:cNvSpPr/>
          <p:nvPr/>
        </p:nvSpPr>
        <p:spPr>
          <a:xfrm>
            <a:off x="2468880" y="1261872"/>
            <a:ext cx="1691640" cy="777240"/>
          </a:xfrm>
          <a:prstGeom prst="rect">
            <a:avLst/>
          </a:prstGeom>
          <a:solidFill>
            <a:srgbClr val="1C1F30"/>
          </a:solidFill>
          <a:ln w="9525">
            <a:solidFill>
              <a:srgbClr val="2A2F44"/>
            </a:solidFill>
            <a:prstDash val="solid"/>
          </a:ln>
        </p:spPr>
      </p:sp>
      <p:sp>
        <p:nvSpPr>
          <p:cNvPr id="9" name="Text 7"/>
          <p:cNvSpPr/>
          <p:nvPr/>
        </p:nvSpPr>
        <p:spPr>
          <a:xfrm>
            <a:off x="2560320" y="1353312"/>
            <a:ext cx="1508760"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2. 학습</a:t>
            </a:r>
            <a:endParaRPr lang="en-US" sz="1300" dirty="0"/>
          </a:p>
        </p:txBody>
      </p:sp>
      <p:sp>
        <p:nvSpPr>
          <p:cNvPr id="10" name="Text 8"/>
          <p:cNvSpPr/>
          <p:nvPr/>
        </p:nvSpPr>
        <p:spPr>
          <a:xfrm>
            <a:off x="2560320" y="1645920"/>
            <a:ext cx="1508760" cy="256032"/>
          </a:xfrm>
          <a:prstGeom prst="rect">
            <a:avLst/>
          </a:prstGeom>
          <a:noFill/>
          <a:ln/>
        </p:spPr>
        <p:txBody>
          <a:bodyPr wrap="square" lIns="0" tIns="0" rIns="0" bIns="0" rtlCol="0" anchor="ctr"/>
          <a:lstStyle/>
          <a:p>
            <a:pPr indent="0" marL="0">
              <a:buNone/>
            </a:pPr>
            <a:r>
              <a:rPr lang="en-US" sz="900" dirty="0">
                <a:solidFill>
                  <a:srgbClr val="FF693C"/>
                </a:solidFill>
                <a:latin typeface="Pretendard" pitchFamily="34" charset="0"/>
                <a:ea typeface="Pretendard" pitchFamily="34" charset="-122"/>
                <a:cs typeface="Pretendard" pitchFamily="34" charset="-120"/>
              </a:rPr>
              <a:t>VLA Foundation</a:t>
            </a:r>
            <a:endParaRPr lang="en-US" sz="900" dirty="0"/>
          </a:p>
        </p:txBody>
      </p:sp>
      <p:sp>
        <p:nvSpPr>
          <p:cNvPr id="11" name="Text 9"/>
          <p:cNvSpPr/>
          <p:nvPr/>
        </p:nvSpPr>
        <p:spPr>
          <a:xfrm>
            <a:off x="4160520" y="1536192"/>
            <a:ext cx="329184" cy="274320"/>
          </a:xfrm>
          <a:prstGeom prst="rect">
            <a:avLst/>
          </a:prstGeom>
          <a:noFill/>
          <a:ln/>
        </p:spPr>
        <p:txBody>
          <a:bodyPr wrap="square" lIns="0" tIns="0" rIns="0" bIns="0" rtlCol="0" anchor="ctr"/>
          <a:lstStyle/>
          <a:p>
            <a:pPr algn="ctr" indent="0" marL="0">
              <a:buNone/>
            </a:pPr>
            <a:r>
              <a:rPr lang="en-US" sz="1800" dirty="0">
                <a:solidFill>
                  <a:srgbClr val="A6ABBE"/>
                </a:solidFill>
                <a:latin typeface="Pretendard" pitchFamily="34" charset="0"/>
                <a:ea typeface="Pretendard" pitchFamily="34" charset="-122"/>
                <a:cs typeface="Pretendard" pitchFamily="34" charset="-120"/>
              </a:rPr>
              <a:t>→</a:t>
            </a:r>
            <a:endParaRPr lang="en-US" sz="1800" dirty="0"/>
          </a:p>
        </p:txBody>
      </p:sp>
      <p:sp>
        <p:nvSpPr>
          <p:cNvPr id="12" name="Shape 10"/>
          <p:cNvSpPr/>
          <p:nvPr/>
        </p:nvSpPr>
        <p:spPr>
          <a:xfrm>
            <a:off x="4480560" y="1261872"/>
            <a:ext cx="1691640" cy="777240"/>
          </a:xfrm>
          <a:prstGeom prst="rect">
            <a:avLst/>
          </a:prstGeom>
          <a:solidFill>
            <a:srgbClr val="1C1F30"/>
          </a:solidFill>
          <a:ln w="9525">
            <a:solidFill>
              <a:srgbClr val="2A2F44"/>
            </a:solidFill>
            <a:prstDash val="solid"/>
          </a:ln>
        </p:spPr>
      </p:sp>
      <p:sp>
        <p:nvSpPr>
          <p:cNvPr id="13" name="Text 11"/>
          <p:cNvSpPr/>
          <p:nvPr/>
        </p:nvSpPr>
        <p:spPr>
          <a:xfrm>
            <a:off x="4572000" y="1353312"/>
            <a:ext cx="1508760"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3. 시뮬</a:t>
            </a:r>
            <a:endParaRPr lang="en-US" sz="1300" dirty="0"/>
          </a:p>
        </p:txBody>
      </p:sp>
      <p:sp>
        <p:nvSpPr>
          <p:cNvPr id="14" name="Text 12"/>
          <p:cNvSpPr/>
          <p:nvPr/>
        </p:nvSpPr>
        <p:spPr>
          <a:xfrm>
            <a:off x="4572000" y="1645920"/>
            <a:ext cx="1508760" cy="256032"/>
          </a:xfrm>
          <a:prstGeom prst="rect">
            <a:avLst/>
          </a:prstGeom>
          <a:noFill/>
          <a:ln/>
        </p:spPr>
        <p:txBody>
          <a:bodyPr wrap="square" lIns="0" tIns="0" rIns="0" bIns="0" rtlCol="0" anchor="ctr"/>
          <a:lstStyle/>
          <a:p>
            <a:pPr indent="0" marL="0">
              <a:buNone/>
            </a:pPr>
            <a:r>
              <a:rPr lang="en-US" sz="900" dirty="0">
                <a:solidFill>
                  <a:srgbClr val="FF693C"/>
                </a:solidFill>
                <a:latin typeface="Pretendard" pitchFamily="34" charset="0"/>
                <a:ea typeface="Pretendard" pitchFamily="34" charset="-122"/>
                <a:cs typeface="Pretendard" pitchFamily="34" charset="-120"/>
              </a:rPr>
              <a:t>Sim-to-Real</a:t>
            </a:r>
            <a:endParaRPr lang="en-US" sz="900" dirty="0"/>
          </a:p>
        </p:txBody>
      </p:sp>
      <p:sp>
        <p:nvSpPr>
          <p:cNvPr id="15" name="Text 13"/>
          <p:cNvSpPr/>
          <p:nvPr/>
        </p:nvSpPr>
        <p:spPr>
          <a:xfrm>
            <a:off x="6172200" y="1536192"/>
            <a:ext cx="329184" cy="274320"/>
          </a:xfrm>
          <a:prstGeom prst="rect">
            <a:avLst/>
          </a:prstGeom>
          <a:noFill/>
          <a:ln/>
        </p:spPr>
        <p:txBody>
          <a:bodyPr wrap="square" lIns="0" tIns="0" rIns="0" bIns="0" rtlCol="0" anchor="ctr"/>
          <a:lstStyle/>
          <a:p>
            <a:pPr algn="ctr" indent="0" marL="0">
              <a:buNone/>
            </a:pPr>
            <a:r>
              <a:rPr lang="en-US" sz="1800" dirty="0">
                <a:solidFill>
                  <a:srgbClr val="A6ABBE"/>
                </a:solidFill>
                <a:latin typeface="Pretendard" pitchFamily="34" charset="0"/>
                <a:ea typeface="Pretendard" pitchFamily="34" charset="-122"/>
                <a:cs typeface="Pretendard" pitchFamily="34" charset="-120"/>
              </a:rPr>
              <a:t>→</a:t>
            </a:r>
            <a:endParaRPr lang="en-US" sz="1800" dirty="0"/>
          </a:p>
        </p:txBody>
      </p:sp>
      <p:sp>
        <p:nvSpPr>
          <p:cNvPr id="16" name="Shape 14"/>
          <p:cNvSpPr/>
          <p:nvPr/>
        </p:nvSpPr>
        <p:spPr>
          <a:xfrm>
            <a:off x="6492240" y="1261872"/>
            <a:ext cx="1691640" cy="777240"/>
          </a:xfrm>
          <a:prstGeom prst="rect">
            <a:avLst/>
          </a:prstGeom>
          <a:solidFill>
            <a:srgbClr val="1C1F30"/>
          </a:solidFill>
          <a:ln w="9525">
            <a:solidFill>
              <a:srgbClr val="2A2F44"/>
            </a:solidFill>
            <a:prstDash val="solid"/>
          </a:ln>
        </p:spPr>
      </p:sp>
      <p:sp>
        <p:nvSpPr>
          <p:cNvPr id="17" name="Text 15"/>
          <p:cNvSpPr/>
          <p:nvPr/>
        </p:nvSpPr>
        <p:spPr>
          <a:xfrm>
            <a:off x="6583680" y="1353312"/>
            <a:ext cx="1508760"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4. 배포</a:t>
            </a:r>
            <a:endParaRPr lang="en-US" sz="1300" dirty="0"/>
          </a:p>
        </p:txBody>
      </p:sp>
      <p:sp>
        <p:nvSpPr>
          <p:cNvPr id="18" name="Text 16"/>
          <p:cNvSpPr/>
          <p:nvPr/>
        </p:nvSpPr>
        <p:spPr>
          <a:xfrm>
            <a:off x="6583680" y="1645920"/>
            <a:ext cx="1508760" cy="256032"/>
          </a:xfrm>
          <a:prstGeom prst="rect">
            <a:avLst/>
          </a:prstGeom>
          <a:noFill/>
          <a:ln/>
        </p:spPr>
        <p:txBody>
          <a:bodyPr wrap="square" lIns="0" tIns="0" rIns="0" bIns="0" rtlCol="0" anchor="ctr"/>
          <a:lstStyle/>
          <a:p>
            <a:pPr indent="0" marL="0">
              <a:buNone/>
            </a:pPr>
            <a:r>
              <a:rPr lang="en-US" sz="900" dirty="0">
                <a:solidFill>
                  <a:srgbClr val="FF693C"/>
                </a:solidFill>
                <a:latin typeface="Pretendard" pitchFamily="34" charset="0"/>
                <a:ea typeface="Pretendard" pitchFamily="34" charset="-122"/>
                <a:cs typeface="Pretendard" pitchFamily="34" charset="-120"/>
              </a:rPr>
              <a:t>Edge Deploy</a:t>
            </a:r>
            <a:endParaRPr lang="en-US" sz="900" dirty="0"/>
          </a:p>
        </p:txBody>
      </p:sp>
      <p:sp>
        <p:nvSpPr>
          <p:cNvPr id="19" name="Shape 17"/>
          <p:cNvSpPr/>
          <p:nvPr/>
        </p:nvSpPr>
        <p:spPr>
          <a:xfrm>
            <a:off x="384048" y="2240280"/>
            <a:ext cx="2731008" cy="54864"/>
          </a:xfrm>
          <a:prstGeom prst="rect">
            <a:avLst/>
          </a:prstGeom>
          <a:solidFill>
            <a:srgbClr val="FF9900"/>
          </a:solidFill>
          <a:ln/>
        </p:spPr>
      </p:sp>
      <p:sp>
        <p:nvSpPr>
          <p:cNvPr id="20" name="Shape 18"/>
          <p:cNvSpPr/>
          <p:nvPr/>
        </p:nvSpPr>
        <p:spPr>
          <a:xfrm>
            <a:off x="384048" y="2295144"/>
            <a:ext cx="2731008" cy="1755648"/>
          </a:xfrm>
          <a:prstGeom prst="rect">
            <a:avLst/>
          </a:prstGeom>
          <a:solidFill>
            <a:srgbClr val="1C1F30"/>
          </a:solidFill>
          <a:ln w="9525">
            <a:solidFill>
              <a:srgbClr val="2A2F44"/>
            </a:solidFill>
            <a:prstDash val="solid"/>
          </a:ln>
        </p:spPr>
      </p:sp>
      <p:sp>
        <p:nvSpPr>
          <p:cNvPr id="21" name="Text 19"/>
          <p:cNvSpPr/>
          <p:nvPr/>
        </p:nvSpPr>
        <p:spPr>
          <a:xfrm>
            <a:off x="512064" y="2423160"/>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DATA LAYER</a:t>
            </a:r>
            <a:endParaRPr lang="en-US" sz="800" dirty="0"/>
          </a:p>
        </p:txBody>
      </p:sp>
      <p:sp>
        <p:nvSpPr>
          <p:cNvPr id="22" name="Text 20"/>
          <p:cNvSpPr/>
          <p:nvPr/>
        </p:nvSpPr>
        <p:spPr>
          <a:xfrm>
            <a:off x="512064" y="2642616"/>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데이터 파이프라인</a:t>
            </a:r>
            <a:endParaRPr lang="en-US" sz="1300" dirty="0"/>
          </a:p>
        </p:txBody>
      </p:sp>
      <p:sp>
        <p:nvSpPr>
          <p:cNvPr id="23" name="Text 21"/>
          <p:cNvSpPr/>
          <p:nvPr/>
        </p:nvSpPr>
        <p:spPr>
          <a:xfrm>
            <a:off x="512064" y="2971800"/>
            <a:ext cx="2474976" cy="987552"/>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S3: 페타바이트 raw 센서</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Glue: ETL · 라벨링</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IoT Core: 실로봇 → 클라우드</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Cosmos WFM: 합성 데이터</a:t>
            </a:r>
            <a:endParaRPr lang="en-US" sz="840" dirty="0"/>
          </a:p>
        </p:txBody>
      </p:sp>
      <p:sp>
        <p:nvSpPr>
          <p:cNvPr id="24" name="Shape 22"/>
          <p:cNvSpPr/>
          <p:nvPr/>
        </p:nvSpPr>
        <p:spPr>
          <a:xfrm>
            <a:off x="3206496" y="2240280"/>
            <a:ext cx="2731008" cy="54864"/>
          </a:xfrm>
          <a:prstGeom prst="rect">
            <a:avLst/>
          </a:prstGeom>
          <a:solidFill>
            <a:srgbClr val="76B900"/>
          </a:solidFill>
          <a:ln/>
        </p:spPr>
      </p:sp>
      <p:sp>
        <p:nvSpPr>
          <p:cNvPr id="25" name="Shape 23"/>
          <p:cNvSpPr/>
          <p:nvPr/>
        </p:nvSpPr>
        <p:spPr>
          <a:xfrm>
            <a:off x="3206496" y="2295144"/>
            <a:ext cx="2731008" cy="1755648"/>
          </a:xfrm>
          <a:prstGeom prst="rect">
            <a:avLst/>
          </a:prstGeom>
          <a:solidFill>
            <a:srgbClr val="1C1F30"/>
          </a:solidFill>
          <a:ln w="9525">
            <a:solidFill>
              <a:srgbClr val="2A2F44"/>
            </a:solidFill>
            <a:prstDash val="solid"/>
          </a:ln>
        </p:spPr>
      </p:sp>
      <p:sp>
        <p:nvSpPr>
          <p:cNvPr id="26" name="Text 24"/>
          <p:cNvSpPr/>
          <p:nvPr/>
        </p:nvSpPr>
        <p:spPr>
          <a:xfrm>
            <a:off x="3334512" y="2423160"/>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TRAINING</a:t>
            </a:r>
            <a:endParaRPr lang="en-US" sz="800" dirty="0"/>
          </a:p>
        </p:txBody>
      </p:sp>
      <p:sp>
        <p:nvSpPr>
          <p:cNvPr id="27" name="Text 25"/>
          <p:cNvSpPr/>
          <p:nvPr/>
        </p:nvSpPr>
        <p:spPr>
          <a:xfrm>
            <a:off x="3334512" y="2642616"/>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VLA 학습</a:t>
            </a:r>
            <a:endParaRPr lang="en-US" sz="1300" dirty="0"/>
          </a:p>
        </p:txBody>
      </p:sp>
      <p:sp>
        <p:nvSpPr>
          <p:cNvPr id="28" name="Text 26"/>
          <p:cNvSpPr/>
          <p:nvPr/>
        </p:nvSpPr>
        <p:spPr>
          <a:xfrm>
            <a:off x="3334512" y="2971800"/>
            <a:ext cx="2474976" cy="987552"/>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SageMaker HyperPod</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EC2 P5/P5e (H100)</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GR00T N1 fine-tune</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Capacity Blocks for ML</a:t>
            </a:r>
            <a:endParaRPr lang="en-US" sz="840" dirty="0"/>
          </a:p>
        </p:txBody>
      </p:sp>
      <p:sp>
        <p:nvSpPr>
          <p:cNvPr id="29" name="Shape 27"/>
          <p:cNvSpPr/>
          <p:nvPr/>
        </p:nvSpPr>
        <p:spPr>
          <a:xfrm>
            <a:off x="6028944" y="2240280"/>
            <a:ext cx="2731008" cy="54864"/>
          </a:xfrm>
          <a:prstGeom prst="rect">
            <a:avLst/>
          </a:prstGeom>
          <a:solidFill>
            <a:srgbClr val="A78BFA"/>
          </a:solidFill>
          <a:ln/>
        </p:spPr>
      </p:sp>
      <p:sp>
        <p:nvSpPr>
          <p:cNvPr id="30" name="Shape 28"/>
          <p:cNvSpPr/>
          <p:nvPr/>
        </p:nvSpPr>
        <p:spPr>
          <a:xfrm>
            <a:off x="6028944" y="2295144"/>
            <a:ext cx="2731008" cy="1755648"/>
          </a:xfrm>
          <a:prstGeom prst="rect">
            <a:avLst/>
          </a:prstGeom>
          <a:solidFill>
            <a:srgbClr val="1C1F30"/>
          </a:solidFill>
          <a:ln w="9525">
            <a:solidFill>
              <a:srgbClr val="2A2F44"/>
            </a:solidFill>
            <a:prstDash val="solid"/>
          </a:ln>
        </p:spPr>
      </p:sp>
      <p:sp>
        <p:nvSpPr>
          <p:cNvPr id="31" name="Text 29"/>
          <p:cNvSpPr/>
          <p:nvPr/>
        </p:nvSpPr>
        <p:spPr>
          <a:xfrm>
            <a:off x="6156960" y="2423160"/>
            <a:ext cx="2474976"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DEPLOY</a:t>
            </a:r>
            <a:endParaRPr lang="en-US" sz="800" dirty="0"/>
          </a:p>
        </p:txBody>
      </p:sp>
      <p:sp>
        <p:nvSpPr>
          <p:cNvPr id="32" name="Text 30"/>
          <p:cNvSpPr/>
          <p:nvPr/>
        </p:nvSpPr>
        <p:spPr>
          <a:xfrm>
            <a:off x="6156960" y="2642616"/>
            <a:ext cx="2474976"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에지 배포</a:t>
            </a:r>
            <a:endParaRPr lang="en-US" sz="1300" dirty="0"/>
          </a:p>
        </p:txBody>
      </p:sp>
      <p:sp>
        <p:nvSpPr>
          <p:cNvPr id="33" name="Text 31"/>
          <p:cNvSpPr/>
          <p:nvPr/>
        </p:nvSpPr>
        <p:spPr>
          <a:xfrm>
            <a:off x="6156960" y="2971800"/>
            <a:ext cx="2474976" cy="987552"/>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IoT Greengrass</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Bedrock AgentCore</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Nota AI 양자화</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Furiosa/DeepX NPU</a:t>
            </a:r>
            <a:endParaRPr lang="en-US" sz="840" dirty="0"/>
          </a:p>
        </p:txBody>
      </p:sp>
      <p:sp>
        <p:nvSpPr>
          <p:cNvPr id="34" name="Text 32"/>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PB-scale</a:t>
            </a:r>
            <a:endParaRPr lang="en-US" sz="1600" dirty="0"/>
          </a:p>
        </p:txBody>
      </p:sp>
      <p:sp>
        <p:nvSpPr>
          <p:cNvPr id="35" name="Text 33"/>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센서 데이터</a:t>
            </a:r>
            <a:endParaRPr lang="en-US" sz="750" dirty="0"/>
          </a:p>
        </p:txBody>
      </p:sp>
      <p:sp>
        <p:nvSpPr>
          <p:cNvPr id="36" name="Text 34"/>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1024 GPU</a:t>
            </a:r>
            <a:endParaRPr lang="en-US" sz="1600" dirty="0"/>
          </a:p>
        </p:txBody>
      </p:sp>
      <p:sp>
        <p:nvSpPr>
          <p:cNvPr id="37" name="Text 35"/>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HyperPod 단일 클러스터</a:t>
            </a:r>
            <a:endParaRPr lang="en-US" sz="750" dirty="0"/>
          </a:p>
        </p:txBody>
      </p:sp>
      <p:sp>
        <p:nvSpPr>
          <p:cNvPr id="38" name="Text 36"/>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10ms</a:t>
            </a:r>
            <a:endParaRPr lang="en-US" sz="1600" dirty="0"/>
          </a:p>
        </p:txBody>
      </p:sp>
      <p:sp>
        <p:nvSpPr>
          <p:cNvPr id="39" name="Text 37"/>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엣지 추론 latency</a:t>
            </a:r>
            <a:endParaRPr lang="en-US" sz="750" dirty="0"/>
          </a:p>
        </p:txBody>
      </p:sp>
      <p:sp>
        <p:nvSpPr>
          <p:cNvPr id="40" name="Text 38"/>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End-to-End</a:t>
            </a:r>
            <a:endParaRPr lang="en-US" sz="1600" dirty="0"/>
          </a:p>
        </p:txBody>
      </p:sp>
      <p:sp>
        <p:nvSpPr>
          <p:cNvPr id="41" name="Text 39"/>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AWS 단일 통합</a:t>
            </a:r>
            <a:endParaRPr lang="en-US" sz="750" dirty="0"/>
          </a:p>
        </p:txBody>
      </p:sp>
      <p:pic>
        <p:nvPicPr>
          <p:cNvPr id="42"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43" name="Text 40"/>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44" name="Text 41"/>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VLA Architecture: Modular vs End-to-End</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두 접근의 트레이드오프와 산업 채택 현황</a:t>
            </a:r>
            <a:endParaRPr lang="en-US" sz="1200" dirty="0"/>
          </a:p>
        </p:txBody>
      </p:sp>
      <p:sp>
        <p:nvSpPr>
          <p:cNvPr id="4" name="Shape 2"/>
          <p:cNvSpPr/>
          <p:nvPr/>
        </p:nvSpPr>
        <p:spPr>
          <a:xfrm>
            <a:off x="384048" y="1261872"/>
            <a:ext cx="4114800" cy="54864"/>
          </a:xfrm>
          <a:prstGeom prst="rect">
            <a:avLst/>
          </a:prstGeom>
          <a:solidFill>
            <a:srgbClr val="5A9CFF"/>
          </a:solidFill>
          <a:ln/>
        </p:spPr>
      </p:sp>
      <p:sp>
        <p:nvSpPr>
          <p:cNvPr id="5" name="Shape 3"/>
          <p:cNvSpPr/>
          <p:nvPr/>
        </p:nvSpPr>
        <p:spPr>
          <a:xfrm>
            <a:off x="384048" y="1316736"/>
            <a:ext cx="4114800" cy="2734056"/>
          </a:xfrm>
          <a:prstGeom prst="rect">
            <a:avLst/>
          </a:prstGeom>
          <a:solidFill>
            <a:srgbClr val="1C1F30"/>
          </a:solidFill>
          <a:ln w="9525">
            <a:solidFill>
              <a:srgbClr val="2A2F44"/>
            </a:solidFill>
            <a:prstDash val="solid"/>
          </a:ln>
        </p:spPr>
      </p:sp>
      <p:sp>
        <p:nvSpPr>
          <p:cNvPr id="6" name="Text 4"/>
          <p:cNvSpPr/>
          <p:nvPr/>
        </p:nvSpPr>
        <p:spPr>
          <a:xfrm>
            <a:off x="548640" y="1444752"/>
            <a:ext cx="3785616" cy="201168"/>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MODULAR ARCHITECTURE</a:t>
            </a:r>
            <a:endParaRPr lang="en-US" sz="800" dirty="0"/>
          </a:p>
        </p:txBody>
      </p:sp>
      <p:sp>
        <p:nvSpPr>
          <p:cNvPr id="7" name="Text 5"/>
          <p:cNvSpPr/>
          <p:nvPr/>
        </p:nvSpPr>
        <p:spPr>
          <a:xfrm>
            <a:off x="548640" y="1682496"/>
            <a:ext cx="3785616" cy="310896"/>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Perception → Planning → Control</a:t>
            </a:r>
            <a:endParaRPr lang="en-US" sz="1400" dirty="0"/>
          </a:p>
        </p:txBody>
      </p:sp>
      <p:sp>
        <p:nvSpPr>
          <p:cNvPr id="8" name="Text 6"/>
          <p:cNvSpPr/>
          <p:nvPr/>
        </p:nvSpPr>
        <p:spPr>
          <a:xfrm>
            <a:off x="548640" y="2029968"/>
            <a:ext cx="3785616" cy="256032"/>
          </a:xfrm>
          <a:prstGeom prst="rect">
            <a:avLst/>
          </a:prstGeom>
          <a:noFill/>
          <a:ln/>
        </p:spPr>
        <p:txBody>
          <a:bodyPr wrap="square" lIns="0" tIns="0" rIns="0" bIns="0" rtlCol="0" anchor="ctr"/>
          <a:lstStyle/>
          <a:p>
            <a:pPr indent="0" marL="0">
              <a:buNone/>
            </a:pPr>
            <a:r>
              <a:rPr lang="en-US" sz="1000" dirty="0">
                <a:solidFill>
                  <a:srgbClr val="5A9CFF"/>
                </a:solidFill>
                <a:latin typeface="Pretendard" pitchFamily="34" charset="0"/>
                <a:ea typeface="Pretendard" pitchFamily="34" charset="-122"/>
                <a:cs typeface="Pretendard" pitchFamily="34" charset="-120"/>
              </a:rPr>
              <a:t>전통적 분리 모듈 + 학습 가능한 컴포넌트</a:t>
            </a:r>
            <a:endParaRPr lang="en-US" sz="1000" dirty="0"/>
          </a:p>
        </p:txBody>
      </p:sp>
      <p:sp>
        <p:nvSpPr>
          <p:cNvPr id="9" name="Shape 7"/>
          <p:cNvSpPr/>
          <p:nvPr/>
        </p:nvSpPr>
        <p:spPr>
          <a:xfrm>
            <a:off x="548640" y="2340864"/>
            <a:ext cx="3785616" cy="0"/>
          </a:xfrm>
          <a:prstGeom prst="line">
            <a:avLst/>
          </a:prstGeom>
          <a:noFill/>
          <a:ln w="6350">
            <a:solidFill>
              <a:srgbClr val="2A2F44"/>
            </a:solidFill>
            <a:prstDash val="solid"/>
          </a:ln>
        </p:spPr>
      </p:sp>
      <p:sp>
        <p:nvSpPr>
          <p:cNvPr id="10" name="Text 8"/>
          <p:cNvSpPr/>
          <p:nvPr/>
        </p:nvSpPr>
        <p:spPr>
          <a:xfrm>
            <a:off x="548640" y="2450592"/>
            <a:ext cx="3785616" cy="1463040"/>
          </a:xfrm>
          <a:prstGeom prst="rect">
            <a:avLst/>
          </a:prstGeom>
          <a:noFill/>
          <a:ln/>
        </p:spPr>
        <p:txBody>
          <a:bodyPr wrap="square" lIns="0" tIns="0" rIns="0" bIns="0" rtlCol="0" anchor="t"/>
          <a:lstStyle/>
          <a:p>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각 모듈 독립 검증·테스트 가능</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ROS2 / DDS 기반 통신</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안전 인증 (ISO 26262) 용이</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Waymo, Cruise, 한국 자율주행</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데이터 효율적, 일반화 약함</a:t>
            </a:r>
            <a:endParaRPr lang="en-US" sz="1000" dirty="0"/>
          </a:p>
        </p:txBody>
      </p:sp>
      <p:sp>
        <p:nvSpPr>
          <p:cNvPr id="11" name="Shape 9"/>
          <p:cNvSpPr/>
          <p:nvPr/>
        </p:nvSpPr>
        <p:spPr>
          <a:xfrm>
            <a:off x="4645152" y="1261872"/>
            <a:ext cx="4114800" cy="54864"/>
          </a:xfrm>
          <a:prstGeom prst="rect">
            <a:avLst/>
          </a:prstGeom>
          <a:solidFill>
            <a:srgbClr val="1FBA8C"/>
          </a:solidFill>
          <a:ln/>
        </p:spPr>
      </p:sp>
      <p:sp>
        <p:nvSpPr>
          <p:cNvPr id="12" name="Shape 10"/>
          <p:cNvSpPr/>
          <p:nvPr/>
        </p:nvSpPr>
        <p:spPr>
          <a:xfrm>
            <a:off x="4645152" y="1316736"/>
            <a:ext cx="4114800" cy="2734056"/>
          </a:xfrm>
          <a:prstGeom prst="rect">
            <a:avLst/>
          </a:prstGeom>
          <a:solidFill>
            <a:srgbClr val="1C1F30"/>
          </a:solidFill>
          <a:ln w="9525">
            <a:solidFill>
              <a:srgbClr val="2A2F44"/>
            </a:solidFill>
            <a:prstDash val="solid"/>
          </a:ln>
        </p:spPr>
      </p:sp>
      <p:sp>
        <p:nvSpPr>
          <p:cNvPr id="13" name="Text 11"/>
          <p:cNvSpPr/>
          <p:nvPr/>
        </p:nvSpPr>
        <p:spPr>
          <a:xfrm>
            <a:off x="4809744" y="1444752"/>
            <a:ext cx="3785616" cy="201168"/>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END-TO-END VLA</a:t>
            </a:r>
            <a:endParaRPr lang="en-US" sz="800" dirty="0"/>
          </a:p>
        </p:txBody>
      </p:sp>
      <p:sp>
        <p:nvSpPr>
          <p:cNvPr id="14" name="Text 12"/>
          <p:cNvSpPr/>
          <p:nvPr/>
        </p:nvSpPr>
        <p:spPr>
          <a:xfrm>
            <a:off x="4809744" y="1682496"/>
            <a:ext cx="3785616" cy="310896"/>
          </a:xfrm>
          <a:prstGeom prst="rect">
            <a:avLst/>
          </a:prstGeom>
          <a:noFill/>
          <a:ln/>
        </p:spPr>
        <p:txBody>
          <a:bodyPr wrap="square" lIns="0" tIns="0" rIns="0" bIns="0" rtlCol="0" anchor="ctr"/>
          <a:lstStyle/>
          <a:p>
            <a:pPr indent="0" marL="0">
              <a:buNone/>
            </a:pPr>
            <a:r>
              <a:rPr lang="en-US" sz="1400" b="1" spc="-40" kern="0" dirty="0">
                <a:solidFill>
                  <a:srgbClr val="FFFFFF"/>
                </a:solidFill>
                <a:latin typeface="Pretendard" pitchFamily="34" charset="0"/>
                <a:ea typeface="Pretendard" pitchFamily="34" charset="-122"/>
                <a:cs typeface="Pretendard" pitchFamily="34" charset="-120"/>
              </a:rPr>
              <a:t>Pixel → Action (단일 신경망)</a:t>
            </a:r>
            <a:endParaRPr lang="en-US" sz="1400" dirty="0"/>
          </a:p>
        </p:txBody>
      </p:sp>
      <p:sp>
        <p:nvSpPr>
          <p:cNvPr id="15" name="Text 13"/>
          <p:cNvSpPr/>
          <p:nvPr/>
        </p:nvSpPr>
        <p:spPr>
          <a:xfrm>
            <a:off x="4809744" y="2029968"/>
            <a:ext cx="3785616" cy="256032"/>
          </a:xfrm>
          <a:prstGeom prst="rect">
            <a:avLst/>
          </a:prstGeom>
          <a:noFill/>
          <a:ln/>
        </p:spPr>
        <p:txBody>
          <a:bodyPr wrap="square" lIns="0" tIns="0" rIns="0" bIns="0" rtlCol="0" anchor="ctr"/>
          <a:lstStyle/>
          <a:p>
            <a:pPr indent="0" marL="0">
              <a:buNone/>
            </a:pPr>
            <a:r>
              <a:rPr lang="en-US" sz="1000" dirty="0">
                <a:solidFill>
                  <a:srgbClr val="1FBA8C"/>
                </a:solidFill>
                <a:latin typeface="Pretendard" pitchFamily="34" charset="0"/>
                <a:ea typeface="Pretendard" pitchFamily="34" charset="-122"/>
                <a:cs typeface="Pretendard" pitchFamily="34" charset="-120"/>
              </a:rPr>
              <a:t>Vision-Language-Action Foundation Model</a:t>
            </a:r>
            <a:endParaRPr lang="en-US" sz="1000" dirty="0"/>
          </a:p>
        </p:txBody>
      </p:sp>
      <p:sp>
        <p:nvSpPr>
          <p:cNvPr id="16" name="Shape 14"/>
          <p:cNvSpPr/>
          <p:nvPr/>
        </p:nvSpPr>
        <p:spPr>
          <a:xfrm>
            <a:off x="4809744" y="2340864"/>
            <a:ext cx="3785616" cy="0"/>
          </a:xfrm>
          <a:prstGeom prst="line">
            <a:avLst/>
          </a:prstGeom>
          <a:noFill/>
          <a:ln w="6350">
            <a:solidFill>
              <a:srgbClr val="2A2F44"/>
            </a:solidFill>
            <a:prstDash val="solid"/>
          </a:ln>
        </p:spPr>
      </p:sp>
      <p:sp>
        <p:nvSpPr>
          <p:cNvPr id="17" name="Text 15"/>
          <p:cNvSpPr/>
          <p:nvPr/>
        </p:nvSpPr>
        <p:spPr>
          <a:xfrm>
            <a:off x="4809744" y="2450592"/>
            <a:ext cx="3785616" cy="1463040"/>
          </a:xfrm>
          <a:prstGeom prst="rect">
            <a:avLst/>
          </a:prstGeom>
          <a:noFill/>
          <a:ln/>
        </p:spPr>
        <p:txBody>
          <a:bodyPr wrap="square" lIns="0" tIns="0" rIns="0" bIns="0" rtlCol="0" anchor="t"/>
          <a:lstStyle/>
          <a:p>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GR00T N1, RT-2, Helix</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장면 일반화 능력 우수</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방대한 훈련 데이터 필요</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Tesla FSD v13, Figure Helix</a:t>
            </a:r>
            <a:pPr indent="0" marL="0">
              <a:spcAft>
                <a:spcPts val="600"/>
              </a:spcAft>
              <a:buNone/>
            </a:pPr>
            <a:r>
              <a:rPr lang="en-US" sz="1000" dirty="0">
                <a:solidFill>
                  <a:srgbClr val="E2E4EC"/>
                </a:solidFill>
                <a:latin typeface="Pretendard" pitchFamily="34" charset="0"/>
                <a:ea typeface="Pretendard" pitchFamily="34" charset="-122"/>
                <a:cs typeface="Pretendard" pitchFamily="34" charset="-120"/>
              </a:rPr>
              <a:t>•  안전 검증 어려움, 활발한 연구</a:t>
            </a:r>
            <a:endParaRPr lang="en-US" sz="1000" dirty="0"/>
          </a:p>
        </p:txBody>
      </p:sp>
      <p:sp>
        <p:nvSpPr>
          <p:cNvPr id="18" name="Text 16"/>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60%</a:t>
            </a:r>
            <a:endParaRPr lang="en-US" sz="1600" dirty="0"/>
          </a:p>
        </p:txBody>
      </p:sp>
      <p:sp>
        <p:nvSpPr>
          <p:cNvPr id="19" name="Text 17"/>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현재 자율주행 Modular</a:t>
            </a:r>
            <a:endParaRPr lang="en-US" sz="750" dirty="0"/>
          </a:p>
        </p:txBody>
      </p:sp>
      <p:sp>
        <p:nvSpPr>
          <p:cNvPr id="20" name="Text 18"/>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70%+</a:t>
            </a:r>
            <a:endParaRPr lang="en-US" sz="1600" dirty="0"/>
          </a:p>
        </p:txBody>
      </p:sp>
      <p:sp>
        <p:nvSpPr>
          <p:cNvPr id="21" name="Text 19"/>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신규 휴머노이드 E2E</a:t>
            </a:r>
            <a:endParaRPr lang="en-US" sz="750" dirty="0"/>
          </a:p>
        </p:txBody>
      </p:sp>
      <p:sp>
        <p:nvSpPr>
          <p:cNvPr id="22" name="Text 20"/>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1B+</a:t>
            </a:r>
            <a:endParaRPr lang="en-US" sz="1600" dirty="0"/>
          </a:p>
        </p:txBody>
      </p:sp>
      <p:sp>
        <p:nvSpPr>
          <p:cNvPr id="23" name="Text 21"/>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VLA 모델 파라미터</a:t>
            </a:r>
            <a:endParaRPr lang="en-US" sz="750" dirty="0"/>
          </a:p>
        </p:txBody>
      </p:sp>
      <p:sp>
        <p:nvSpPr>
          <p:cNvPr id="24" name="Text 22"/>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Hybrid</a:t>
            </a:r>
            <a:endParaRPr lang="en-US" sz="1600" dirty="0"/>
          </a:p>
        </p:txBody>
      </p:sp>
      <p:sp>
        <p:nvSpPr>
          <p:cNvPr id="25" name="Text 23"/>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양산 트렌드</a:t>
            </a:r>
            <a:endParaRPr lang="en-US" sz="750" dirty="0"/>
          </a:p>
        </p:txBody>
      </p:sp>
      <p:pic>
        <p:nvPicPr>
          <p:cNvPr id="26"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27" name="Text 24"/>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28" name="Text 25"/>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103120"/>
            <a:ext cx="8375904" cy="640080"/>
          </a:xfrm>
          <a:prstGeom prst="rect">
            <a:avLst/>
          </a:prstGeom>
          <a:noFill/>
          <a:ln/>
        </p:spPr>
        <p:txBody>
          <a:bodyPr wrap="square" lIns="0" tIns="0" rIns="0" bIns="0" rtlCol="0" anchor="ctr"/>
          <a:lstStyle/>
          <a:p>
            <a:pPr indent="0" marL="0">
              <a:buNone/>
            </a:pPr>
            <a:r>
              <a:rPr lang="en-US" sz="4000" spc="-120" kern="0" dirty="0">
                <a:solidFill>
                  <a:srgbClr val="FFFFFF"/>
                </a:solidFill>
                <a:latin typeface="Pretendard" pitchFamily="34" charset="0"/>
                <a:ea typeface="Pretendard" pitchFamily="34" charset="-122"/>
                <a:cs typeface="Pretendard" pitchFamily="34" charset="-120"/>
              </a:rPr>
              <a:t>Part 3</a:t>
            </a:r>
            <a:endParaRPr lang="en-US" sz="4000" dirty="0"/>
          </a:p>
        </p:txBody>
      </p:sp>
      <p:sp>
        <p:nvSpPr>
          <p:cNvPr id="3" name="Text 1"/>
          <p:cNvSpPr/>
          <p:nvPr/>
        </p:nvSpPr>
        <p:spPr>
          <a:xfrm>
            <a:off x="384048" y="2697480"/>
            <a:ext cx="8375904" cy="502920"/>
          </a:xfrm>
          <a:prstGeom prst="rect">
            <a:avLst/>
          </a:prstGeom>
          <a:noFill/>
          <a:ln/>
        </p:spPr>
        <p:txBody>
          <a:bodyPr wrap="square" lIns="0" tIns="0" rIns="0" bIns="0" rtlCol="0" anchor="ctr"/>
          <a:lstStyle/>
          <a:p>
            <a:pPr indent="0" marL="0">
              <a:buNone/>
            </a:pPr>
            <a:r>
              <a:rPr lang="en-US" sz="2200" spc="-50" kern="0" dirty="0">
                <a:solidFill>
                  <a:srgbClr val="E2E4EC"/>
                </a:solidFill>
                <a:latin typeface="Pretendard" pitchFamily="34" charset="0"/>
                <a:ea typeface="Pretendard" pitchFamily="34" charset="-122"/>
                <a:cs typeface="Pretendard" pitchFamily="34" charset="-120"/>
              </a:rPr>
              <a:t>Sim-to-Real &amp; Korean Edge Ecosystem</a:t>
            </a:r>
            <a:endParaRPr lang="en-US" sz="2200" dirty="0"/>
          </a:p>
        </p:txBody>
      </p:sp>
      <p:pic>
        <p:nvPicPr>
          <p:cNvPr id="4" name="Image 0" descr="/home/claude/aws_logo_white.png">    </p:cNvPr>
          <p:cNvPicPr>
            <a:picLocks noChangeAspect="1"/>
          </p:cNvPicPr>
          <p:nvPr/>
        </p:nvPicPr>
        <p:blipFill>
          <a:blip r:embed="rId2"/>
          <a:stretch>
            <a:fillRect/>
          </a:stretch>
        </p:blipFill>
        <p:spPr>
          <a:xfrm>
            <a:off x="384048" y="4762195"/>
            <a:ext cx="315468" cy="210312"/>
          </a:xfrm>
          <a:prstGeom prst="rect">
            <a:avLst/>
          </a:prstGeom>
        </p:spPr>
      </p:pic>
      <p:sp>
        <p:nvSpPr>
          <p:cNvPr id="5" name="Text 2"/>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6" name="Text 3"/>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Sim-to-Real Gap: 6대 실패 패턴</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왜 시뮬에서 잘 되던 정책이 실제 로봇에서 무너지는가</a:t>
            </a:r>
            <a:endParaRPr lang="en-US" sz="1200" dirty="0"/>
          </a:p>
        </p:txBody>
      </p:sp>
      <p:sp>
        <p:nvSpPr>
          <p:cNvPr id="4" name="Shape 2"/>
          <p:cNvSpPr/>
          <p:nvPr/>
        </p:nvSpPr>
        <p:spPr>
          <a:xfrm>
            <a:off x="384048" y="1261872"/>
            <a:ext cx="274320" cy="384048"/>
          </a:xfrm>
          <a:prstGeom prst="rect">
            <a:avLst/>
          </a:prstGeom>
          <a:solidFill>
            <a:srgbClr val="CC0000"/>
          </a:solidFill>
          <a:ln/>
        </p:spPr>
      </p:sp>
      <p:sp>
        <p:nvSpPr>
          <p:cNvPr id="5" name="Shape 3"/>
          <p:cNvSpPr/>
          <p:nvPr/>
        </p:nvSpPr>
        <p:spPr>
          <a:xfrm>
            <a:off x="658368" y="1261872"/>
            <a:ext cx="3840480" cy="384048"/>
          </a:xfrm>
          <a:prstGeom prst="rect">
            <a:avLst/>
          </a:prstGeom>
          <a:solidFill>
            <a:srgbClr val="1C1F30"/>
          </a:solidFill>
          <a:ln w="9525">
            <a:solidFill>
              <a:srgbClr val="2A2F44"/>
            </a:solidFill>
            <a:prstDash val="solid"/>
          </a:ln>
        </p:spPr>
      </p:sp>
      <p:sp>
        <p:nvSpPr>
          <p:cNvPr id="6" name="Text 4"/>
          <p:cNvSpPr/>
          <p:nvPr/>
        </p:nvSpPr>
        <p:spPr>
          <a:xfrm>
            <a:off x="768096" y="1261872"/>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#1  센서 노이즈</a:t>
            </a:r>
            <a:endParaRPr lang="en-US" sz="1000" dirty="0"/>
          </a:p>
        </p:txBody>
      </p:sp>
      <p:sp>
        <p:nvSpPr>
          <p:cNvPr id="7" name="Shape 5"/>
          <p:cNvSpPr/>
          <p:nvPr/>
        </p:nvSpPr>
        <p:spPr>
          <a:xfrm>
            <a:off x="384048" y="1691640"/>
            <a:ext cx="274320" cy="384048"/>
          </a:xfrm>
          <a:prstGeom prst="rect">
            <a:avLst/>
          </a:prstGeom>
          <a:solidFill>
            <a:srgbClr val="FF6A00"/>
          </a:solidFill>
          <a:ln/>
        </p:spPr>
      </p:sp>
      <p:sp>
        <p:nvSpPr>
          <p:cNvPr id="8" name="Shape 6"/>
          <p:cNvSpPr/>
          <p:nvPr/>
        </p:nvSpPr>
        <p:spPr>
          <a:xfrm>
            <a:off x="658368" y="1691640"/>
            <a:ext cx="3840480" cy="384048"/>
          </a:xfrm>
          <a:prstGeom prst="rect">
            <a:avLst/>
          </a:prstGeom>
          <a:solidFill>
            <a:srgbClr val="1C1F30"/>
          </a:solidFill>
          <a:ln w="9525">
            <a:solidFill>
              <a:srgbClr val="2A2F44"/>
            </a:solidFill>
            <a:prstDash val="solid"/>
          </a:ln>
        </p:spPr>
      </p:sp>
      <p:sp>
        <p:nvSpPr>
          <p:cNvPr id="9" name="Text 7"/>
          <p:cNvSpPr/>
          <p:nvPr/>
        </p:nvSpPr>
        <p:spPr>
          <a:xfrm>
            <a:off x="768096" y="1691640"/>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#2  조명 변화</a:t>
            </a:r>
            <a:endParaRPr lang="en-US" sz="1000" dirty="0"/>
          </a:p>
        </p:txBody>
      </p:sp>
      <p:sp>
        <p:nvSpPr>
          <p:cNvPr id="10" name="Shape 8"/>
          <p:cNvSpPr/>
          <p:nvPr/>
        </p:nvSpPr>
        <p:spPr>
          <a:xfrm>
            <a:off x="384048" y="2121408"/>
            <a:ext cx="274320" cy="384048"/>
          </a:xfrm>
          <a:prstGeom prst="rect">
            <a:avLst/>
          </a:prstGeom>
          <a:solidFill>
            <a:srgbClr val="76B900"/>
          </a:solidFill>
          <a:ln/>
        </p:spPr>
      </p:sp>
      <p:sp>
        <p:nvSpPr>
          <p:cNvPr id="11" name="Shape 9"/>
          <p:cNvSpPr/>
          <p:nvPr/>
        </p:nvSpPr>
        <p:spPr>
          <a:xfrm>
            <a:off x="658368" y="2121408"/>
            <a:ext cx="3840480" cy="384048"/>
          </a:xfrm>
          <a:prstGeom prst="rect">
            <a:avLst/>
          </a:prstGeom>
          <a:solidFill>
            <a:srgbClr val="1C1F30"/>
          </a:solidFill>
          <a:ln w="9525">
            <a:solidFill>
              <a:srgbClr val="2A2F44"/>
            </a:solidFill>
            <a:prstDash val="solid"/>
          </a:ln>
        </p:spPr>
      </p:sp>
      <p:sp>
        <p:nvSpPr>
          <p:cNvPr id="12" name="Text 10"/>
          <p:cNvSpPr/>
          <p:nvPr/>
        </p:nvSpPr>
        <p:spPr>
          <a:xfrm>
            <a:off x="768096" y="2121408"/>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#3  마찰계수 차이</a:t>
            </a:r>
            <a:endParaRPr lang="en-US" sz="1000" dirty="0"/>
          </a:p>
        </p:txBody>
      </p:sp>
      <p:sp>
        <p:nvSpPr>
          <p:cNvPr id="13" name="Shape 11"/>
          <p:cNvSpPr/>
          <p:nvPr/>
        </p:nvSpPr>
        <p:spPr>
          <a:xfrm>
            <a:off x="384048" y="2551176"/>
            <a:ext cx="274320" cy="384048"/>
          </a:xfrm>
          <a:prstGeom prst="rect">
            <a:avLst/>
          </a:prstGeom>
          <a:solidFill>
            <a:srgbClr val="5A9CFF"/>
          </a:solidFill>
          <a:ln/>
        </p:spPr>
      </p:sp>
      <p:sp>
        <p:nvSpPr>
          <p:cNvPr id="14" name="Shape 12"/>
          <p:cNvSpPr/>
          <p:nvPr/>
        </p:nvSpPr>
        <p:spPr>
          <a:xfrm>
            <a:off x="658368" y="2551176"/>
            <a:ext cx="3840480" cy="384048"/>
          </a:xfrm>
          <a:prstGeom prst="rect">
            <a:avLst/>
          </a:prstGeom>
          <a:solidFill>
            <a:srgbClr val="1C1F30"/>
          </a:solidFill>
          <a:ln w="9525">
            <a:solidFill>
              <a:srgbClr val="2A2F44"/>
            </a:solidFill>
            <a:prstDash val="solid"/>
          </a:ln>
        </p:spPr>
      </p:sp>
      <p:sp>
        <p:nvSpPr>
          <p:cNvPr id="15" name="Text 13"/>
          <p:cNvSpPr/>
          <p:nvPr/>
        </p:nvSpPr>
        <p:spPr>
          <a:xfrm>
            <a:off x="768096" y="2551176"/>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#4  통신 지연</a:t>
            </a:r>
            <a:endParaRPr lang="en-US" sz="1000" dirty="0"/>
          </a:p>
        </p:txBody>
      </p:sp>
      <p:sp>
        <p:nvSpPr>
          <p:cNvPr id="16" name="Shape 14"/>
          <p:cNvSpPr/>
          <p:nvPr/>
        </p:nvSpPr>
        <p:spPr>
          <a:xfrm>
            <a:off x="384048" y="2980944"/>
            <a:ext cx="274320" cy="384048"/>
          </a:xfrm>
          <a:prstGeom prst="rect">
            <a:avLst/>
          </a:prstGeom>
          <a:solidFill>
            <a:srgbClr val="A78BFA"/>
          </a:solidFill>
          <a:ln/>
        </p:spPr>
      </p:sp>
      <p:sp>
        <p:nvSpPr>
          <p:cNvPr id="17" name="Shape 15"/>
          <p:cNvSpPr/>
          <p:nvPr/>
        </p:nvSpPr>
        <p:spPr>
          <a:xfrm>
            <a:off x="658368" y="2980944"/>
            <a:ext cx="3840480" cy="384048"/>
          </a:xfrm>
          <a:prstGeom prst="rect">
            <a:avLst/>
          </a:prstGeom>
          <a:solidFill>
            <a:srgbClr val="1C1F30"/>
          </a:solidFill>
          <a:ln w="9525">
            <a:solidFill>
              <a:srgbClr val="2A2F44"/>
            </a:solidFill>
            <a:prstDash val="solid"/>
          </a:ln>
        </p:spPr>
      </p:sp>
      <p:sp>
        <p:nvSpPr>
          <p:cNvPr id="18" name="Text 16"/>
          <p:cNvSpPr/>
          <p:nvPr/>
        </p:nvSpPr>
        <p:spPr>
          <a:xfrm>
            <a:off x="768096" y="2980944"/>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#5  동역학 모델 불일치</a:t>
            </a:r>
            <a:endParaRPr lang="en-US" sz="1000" dirty="0"/>
          </a:p>
        </p:txBody>
      </p:sp>
      <p:sp>
        <p:nvSpPr>
          <p:cNvPr id="19" name="Shape 17"/>
          <p:cNvSpPr/>
          <p:nvPr/>
        </p:nvSpPr>
        <p:spPr>
          <a:xfrm>
            <a:off x="384048" y="3410712"/>
            <a:ext cx="274320" cy="384048"/>
          </a:xfrm>
          <a:prstGeom prst="rect">
            <a:avLst/>
          </a:prstGeom>
          <a:solidFill>
            <a:srgbClr val="E8825D"/>
          </a:solidFill>
          <a:ln/>
        </p:spPr>
      </p:sp>
      <p:sp>
        <p:nvSpPr>
          <p:cNvPr id="20" name="Shape 18"/>
          <p:cNvSpPr/>
          <p:nvPr/>
        </p:nvSpPr>
        <p:spPr>
          <a:xfrm>
            <a:off x="658368" y="3410712"/>
            <a:ext cx="3840480" cy="384048"/>
          </a:xfrm>
          <a:prstGeom prst="rect">
            <a:avLst/>
          </a:prstGeom>
          <a:solidFill>
            <a:srgbClr val="1C1F30"/>
          </a:solidFill>
          <a:ln w="9525">
            <a:solidFill>
              <a:srgbClr val="2A2F44"/>
            </a:solidFill>
            <a:prstDash val="solid"/>
          </a:ln>
        </p:spPr>
      </p:sp>
      <p:sp>
        <p:nvSpPr>
          <p:cNvPr id="21" name="Text 19"/>
          <p:cNvSpPr/>
          <p:nvPr/>
        </p:nvSpPr>
        <p:spPr>
          <a:xfrm>
            <a:off x="768096" y="3410712"/>
            <a:ext cx="3730752" cy="384048"/>
          </a:xfrm>
          <a:prstGeom prst="rect">
            <a:avLst/>
          </a:prstGeom>
          <a:noFill/>
          <a:ln/>
        </p:spPr>
        <p:txBody>
          <a:bodyPr wrap="square" lIns="0" tIns="0" rIns="0" bIns="0" rtlCol="0" anchor="ctr"/>
          <a:lstStyle/>
          <a:p>
            <a:pPr indent="0" marL="0">
              <a:buNone/>
            </a:pPr>
            <a:r>
              <a:rPr lang="en-US" sz="1000" b="1" dirty="0">
                <a:solidFill>
                  <a:srgbClr val="FFFFFF"/>
                </a:solidFill>
                <a:latin typeface="Pretendard" pitchFamily="34" charset="0"/>
                <a:ea typeface="Pretendard" pitchFamily="34" charset="-122"/>
                <a:cs typeface="Pretendard" pitchFamily="34" charset="-120"/>
              </a:rPr>
              <a:t>#6  분포 외 객체 (OOD)</a:t>
            </a:r>
            <a:endParaRPr lang="en-US" sz="1000" dirty="0"/>
          </a:p>
        </p:txBody>
      </p:sp>
      <p:sp>
        <p:nvSpPr>
          <p:cNvPr id="22" name="Shape 20"/>
          <p:cNvSpPr/>
          <p:nvPr/>
        </p:nvSpPr>
        <p:spPr>
          <a:xfrm>
            <a:off x="4645152" y="1261872"/>
            <a:ext cx="4114800" cy="1691640"/>
          </a:xfrm>
          <a:prstGeom prst="rect">
            <a:avLst/>
          </a:prstGeom>
          <a:solidFill>
            <a:srgbClr val="1C1F30"/>
          </a:solidFill>
          <a:ln w="9525">
            <a:solidFill>
              <a:srgbClr val="2A2F44"/>
            </a:solidFill>
            <a:prstDash val="solid"/>
          </a:ln>
        </p:spPr>
      </p:sp>
      <p:sp>
        <p:nvSpPr>
          <p:cNvPr id="23" name="Text 21"/>
          <p:cNvSpPr/>
          <p:nvPr/>
        </p:nvSpPr>
        <p:spPr>
          <a:xfrm>
            <a:off x="4791456" y="1371600"/>
            <a:ext cx="3822192" cy="274320"/>
          </a:xfrm>
          <a:prstGeom prst="rect">
            <a:avLst/>
          </a:prstGeom>
          <a:noFill/>
          <a:ln/>
        </p:spPr>
        <p:txBody>
          <a:bodyPr wrap="square" lIns="0" tIns="0" rIns="0" bIns="0" rtlCol="0" anchor="ctr"/>
          <a:lstStyle/>
          <a:p>
            <a:pPr indent="0" marL="0">
              <a:buNone/>
            </a:pPr>
            <a:r>
              <a:rPr lang="en-US" sz="1300" b="1" dirty="0">
                <a:solidFill>
                  <a:srgbClr val="FFFFFF"/>
                </a:solidFill>
                <a:latin typeface="Pretendard" pitchFamily="34" charset="0"/>
                <a:ea typeface="Pretendard" pitchFamily="34" charset="-122"/>
                <a:cs typeface="Pretendard" pitchFamily="34" charset="-120"/>
              </a:rPr>
              <a:t>AWS 운영 대응</a:t>
            </a:r>
            <a:endParaRPr lang="en-US" sz="1300" dirty="0"/>
          </a:p>
        </p:txBody>
      </p:sp>
      <p:sp>
        <p:nvSpPr>
          <p:cNvPr id="24" name="Text 22"/>
          <p:cNvSpPr/>
          <p:nvPr/>
        </p:nvSpPr>
        <p:spPr>
          <a:xfrm>
            <a:off x="4791456" y="1755648"/>
            <a:ext cx="3822192" cy="1170432"/>
          </a:xfrm>
          <a:prstGeom prst="rect">
            <a:avLst/>
          </a:prstGeom>
          <a:noFill/>
          <a:ln/>
        </p:spPr>
        <p:txBody>
          <a:bodyPr wrap="square" lIns="0" tIns="0" rIns="0" bIns="0" rtlCol="0" anchor="t"/>
          <a:lstStyle/>
          <a:p>
            <a:pPr indent="0" marL="0">
              <a:spcAft>
                <a:spcPts val="600"/>
              </a:spcAft>
              <a:buNone/>
            </a:pPr>
            <a:r>
              <a:rPr lang="en-US" sz="900" dirty="0">
                <a:solidFill>
                  <a:srgbClr val="E2E4EC"/>
                </a:solidFill>
                <a:latin typeface="Pretendard" pitchFamily="34" charset="0"/>
                <a:ea typeface="Pretendard" pitchFamily="34" charset="-122"/>
                <a:cs typeface="Pretendard" pitchFamily="34" charset="-120"/>
              </a:rPr>
              <a:t>•  Domain Randomization (Isaac Lab)</a:t>
            </a:r>
            <a:pPr indent="0" marL="0">
              <a:spcAft>
                <a:spcPts val="600"/>
              </a:spcAft>
              <a:buNone/>
            </a:pPr>
            <a:r>
              <a:rPr lang="en-US" sz="900" dirty="0">
                <a:solidFill>
                  <a:srgbClr val="E2E4EC"/>
                </a:solidFill>
                <a:latin typeface="Pretendard" pitchFamily="34" charset="0"/>
                <a:ea typeface="Pretendard" pitchFamily="34" charset="-122"/>
                <a:cs typeface="Pretendard" pitchFamily="34" charset="-120"/>
              </a:rPr>
              <a:t>•  Cosmos WFM 합성 데이터로 분포 확장</a:t>
            </a:r>
            <a:pPr indent="0" marL="0">
              <a:spcAft>
                <a:spcPts val="600"/>
              </a:spcAft>
              <a:buNone/>
            </a:pPr>
            <a:r>
              <a:rPr lang="en-US" sz="900" dirty="0">
                <a:solidFill>
                  <a:srgbClr val="E2E4EC"/>
                </a:solidFill>
                <a:latin typeface="Pretendard" pitchFamily="34" charset="0"/>
                <a:ea typeface="Pretendard" pitchFamily="34" charset="-122"/>
                <a:cs typeface="Pretendard" pitchFamily="34" charset="-120"/>
              </a:rPr>
              <a:t>•  Real-to-Sim 데이터 피드백 루프</a:t>
            </a:r>
            <a:pPr indent="0" marL="0">
              <a:spcAft>
                <a:spcPts val="600"/>
              </a:spcAft>
              <a:buNone/>
            </a:pPr>
            <a:r>
              <a:rPr lang="en-US" sz="900" dirty="0">
                <a:solidFill>
                  <a:srgbClr val="E2E4EC"/>
                </a:solidFill>
                <a:latin typeface="Pretendard" pitchFamily="34" charset="0"/>
                <a:ea typeface="Pretendard" pitchFamily="34" charset="-122"/>
                <a:cs typeface="Pretendard" pitchFamily="34" charset="-120"/>
              </a:rPr>
              <a:t>•  Hardware-in-the-Loop (HIL) 검증</a:t>
            </a:r>
            <a:endParaRPr lang="en-US" sz="900" dirty="0"/>
          </a:p>
        </p:txBody>
      </p:sp>
      <p:sp>
        <p:nvSpPr>
          <p:cNvPr id="25" name="Shape 23"/>
          <p:cNvSpPr/>
          <p:nvPr/>
        </p:nvSpPr>
        <p:spPr>
          <a:xfrm>
            <a:off x="4645152" y="3063240"/>
            <a:ext cx="4114800" cy="54864"/>
          </a:xfrm>
          <a:prstGeom prst="rect">
            <a:avLst/>
          </a:prstGeom>
          <a:solidFill>
            <a:srgbClr val="FF693C"/>
          </a:solidFill>
          <a:ln/>
        </p:spPr>
      </p:sp>
      <p:sp>
        <p:nvSpPr>
          <p:cNvPr id="26" name="Shape 24"/>
          <p:cNvSpPr/>
          <p:nvPr/>
        </p:nvSpPr>
        <p:spPr>
          <a:xfrm>
            <a:off x="4645152" y="3118104"/>
            <a:ext cx="4114800" cy="960120"/>
          </a:xfrm>
          <a:prstGeom prst="rect">
            <a:avLst/>
          </a:prstGeom>
          <a:solidFill>
            <a:srgbClr val="1C1F30"/>
          </a:solidFill>
          <a:ln w="9525">
            <a:solidFill>
              <a:srgbClr val="2A2F44"/>
            </a:solidFill>
            <a:prstDash val="solid"/>
          </a:ln>
        </p:spPr>
      </p:sp>
      <p:sp>
        <p:nvSpPr>
          <p:cNvPr id="27" name="Text 25"/>
          <p:cNvSpPr/>
          <p:nvPr/>
        </p:nvSpPr>
        <p:spPr>
          <a:xfrm>
            <a:off x="4791456" y="3200400"/>
            <a:ext cx="3822192" cy="182880"/>
          </a:xfrm>
          <a:prstGeom prst="rect">
            <a:avLst/>
          </a:prstGeom>
          <a:noFill/>
          <a:ln/>
        </p:spPr>
        <p:txBody>
          <a:bodyPr wrap="square" lIns="0" tIns="0" rIns="0" bIns="0" rtlCol="0" anchor="ctr"/>
          <a:lstStyle/>
          <a:p>
            <a:pPr indent="0" marL="0">
              <a:buNone/>
            </a:pPr>
            <a:r>
              <a:rPr lang="en-US" sz="800" b="1" spc="150" kern="0" dirty="0">
                <a:solidFill>
                  <a:srgbClr val="FF693C"/>
                </a:solidFill>
                <a:latin typeface="Pretendard" pitchFamily="34" charset="0"/>
                <a:ea typeface="Pretendard" pitchFamily="34" charset="-122"/>
                <a:cs typeface="Pretendard" pitchFamily="34" charset="-120"/>
              </a:rPr>
              <a:t>Insight</a:t>
            </a:r>
            <a:endParaRPr lang="en-US" sz="800" dirty="0"/>
          </a:p>
        </p:txBody>
      </p:sp>
      <p:sp>
        <p:nvSpPr>
          <p:cNvPr id="28" name="Text 26"/>
          <p:cNvSpPr/>
          <p:nvPr/>
        </p:nvSpPr>
        <p:spPr>
          <a:xfrm>
            <a:off x="4791456" y="3401568"/>
            <a:ext cx="3822192" cy="594360"/>
          </a:xfrm>
          <a:prstGeom prst="rect">
            <a:avLst/>
          </a:prstGeom>
          <a:noFill/>
          <a:ln/>
        </p:spPr>
        <p:txBody>
          <a:bodyPr wrap="square" lIns="0" tIns="0" rIns="0" bIns="0" rtlCol="0" anchor="t"/>
          <a:lstStyle/>
          <a:p>
            <a:pPr indent="0" marL="0">
              <a:buNone/>
            </a:pPr>
            <a:r>
              <a:rPr lang="en-US" sz="950" dirty="0">
                <a:solidFill>
                  <a:srgbClr val="FFFFFF"/>
                </a:solidFill>
                <a:latin typeface="Pretendard" pitchFamily="34" charset="0"/>
                <a:ea typeface="Pretendard" pitchFamily="34" charset="-122"/>
                <a:cs typeface="Pretendard" pitchFamily="34" charset="-120"/>
              </a:rPr>
              <a:t>Sim-to-Real Gap의 80%는 데이터 다양성 부족에서 비롯되며, AWS Cosmos WFM과 GR00T 결합으로 체계적으로 해소할 수 있습니다.</a:t>
            </a:r>
            <a:endParaRPr lang="en-US" sz="950" dirty="0"/>
          </a:p>
        </p:txBody>
      </p:sp>
      <p:sp>
        <p:nvSpPr>
          <p:cNvPr id="29" name="Text 27"/>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80%</a:t>
            </a:r>
            <a:endParaRPr lang="en-US" sz="1600" dirty="0"/>
          </a:p>
        </p:txBody>
      </p:sp>
      <p:sp>
        <p:nvSpPr>
          <p:cNvPr id="30" name="Text 28"/>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데이터 다양성 부족 비중</a:t>
            </a:r>
            <a:endParaRPr lang="en-US" sz="750" dirty="0"/>
          </a:p>
        </p:txBody>
      </p:sp>
      <p:sp>
        <p:nvSpPr>
          <p:cNvPr id="31" name="Text 29"/>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10x</a:t>
            </a:r>
            <a:endParaRPr lang="en-US" sz="1600" dirty="0"/>
          </a:p>
        </p:txBody>
      </p:sp>
      <p:sp>
        <p:nvSpPr>
          <p:cNvPr id="32" name="Text 30"/>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DR 적용 시 일반화 향상</a:t>
            </a:r>
            <a:endParaRPr lang="en-US" sz="750" dirty="0"/>
          </a:p>
        </p:txBody>
      </p:sp>
      <p:sp>
        <p:nvSpPr>
          <p:cNvPr id="33" name="Text 31"/>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30%↓</a:t>
            </a:r>
            <a:endParaRPr lang="en-US" sz="1600" dirty="0"/>
          </a:p>
        </p:txBody>
      </p:sp>
      <p:sp>
        <p:nvSpPr>
          <p:cNvPr id="34" name="Text 32"/>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실제 데이터 의존도</a:t>
            </a:r>
            <a:endParaRPr lang="en-US" sz="750" dirty="0"/>
          </a:p>
        </p:txBody>
      </p:sp>
      <p:sp>
        <p:nvSpPr>
          <p:cNvPr id="35" name="Text 33"/>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Closed Loop</a:t>
            </a:r>
            <a:endParaRPr lang="en-US" sz="1600" dirty="0"/>
          </a:p>
        </p:txBody>
      </p:sp>
      <p:sp>
        <p:nvSpPr>
          <p:cNvPr id="36" name="Text 34"/>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Real → Sim → Real</a:t>
            </a:r>
            <a:endParaRPr lang="en-US" sz="750" dirty="0"/>
          </a:p>
        </p:txBody>
      </p:sp>
      <p:pic>
        <p:nvPicPr>
          <p:cNvPr id="37"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38" name="Text 35"/>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39" name="Text 36"/>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10</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한국 NPU·최적화 파트너 4사</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엣지 추론 latency를 10ms 이하로 압축하는 기술</a:t>
            </a:r>
            <a:endParaRPr lang="en-US" sz="1200" dirty="0"/>
          </a:p>
        </p:txBody>
      </p:sp>
      <p:sp>
        <p:nvSpPr>
          <p:cNvPr id="4" name="Shape 2"/>
          <p:cNvSpPr/>
          <p:nvPr/>
        </p:nvSpPr>
        <p:spPr>
          <a:xfrm>
            <a:off x="384048" y="1261872"/>
            <a:ext cx="2025396" cy="54864"/>
          </a:xfrm>
          <a:prstGeom prst="rect">
            <a:avLst/>
          </a:prstGeom>
          <a:solidFill>
            <a:srgbClr val="FF693C"/>
          </a:solidFill>
          <a:ln/>
        </p:spPr>
      </p:sp>
      <p:sp>
        <p:nvSpPr>
          <p:cNvPr id="5" name="Shape 3"/>
          <p:cNvSpPr/>
          <p:nvPr/>
        </p:nvSpPr>
        <p:spPr>
          <a:xfrm>
            <a:off x="384048" y="1316736"/>
            <a:ext cx="2025396" cy="2734056"/>
          </a:xfrm>
          <a:prstGeom prst="rect">
            <a:avLst/>
          </a:prstGeom>
          <a:solidFill>
            <a:srgbClr val="1C1F30"/>
          </a:solidFill>
          <a:ln w="9525">
            <a:solidFill>
              <a:srgbClr val="2A2F44"/>
            </a:solidFill>
            <a:prstDash val="solid"/>
          </a:ln>
        </p:spPr>
      </p:sp>
      <p:sp>
        <p:nvSpPr>
          <p:cNvPr id="6" name="Text 4"/>
          <p:cNvSpPr/>
          <p:nvPr/>
        </p:nvSpPr>
        <p:spPr>
          <a:xfrm>
            <a:off x="512064" y="1444752"/>
            <a:ext cx="1769364"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NOTA AI</a:t>
            </a:r>
            <a:endParaRPr lang="en-US" sz="800" dirty="0"/>
          </a:p>
        </p:txBody>
      </p:sp>
      <p:sp>
        <p:nvSpPr>
          <p:cNvPr id="7" name="Shape 5"/>
          <p:cNvSpPr/>
          <p:nvPr/>
        </p:nvSpPr>
        <p:spPr>
          <a:xfrm>
            <a:off x="512064" y="1664208"/>
            <a:ext cx="502920" cy="164592"/>
          </a:xfrm>
          <a:prstGeom prst="roundRect">
            <a:avLst>
              <a:gd name="adj" fmla="val 33333"/>
            </a:avLst>
          </a:prstGeom>
          <a:solidFill>
            <a:srgbClr val="FF693C"/>
          </a:solidFill>
          <a:ln/>
        </p:spPr>
      </p:sp>
      <p:sp>
        <p:nvSpPr>
          <p:cNvPr id="8" name="Text 6"/>
          <p:cNvSpPr/>
          <p:nvPr/>
        </p:nvSpPr>
        <p:spPr>
          <a:xfrm>
            <a:off x="512064"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QUANT</a:t>
            </a:r>
            <a:endParaRPr lang="en-US" sz="680" dirty="0"/>
          </a:p>
        </p:txBody>
      </p:sp>
      <p:sp>
        <p:nvSpPr>
          <p:cNvPr id="9" name="Text 7"/>
          <p:cNvSpPr/>
          <p:nvPr/>
        </p:nvSpPr>
        <p:spPr>
          <a:xfrm>
            <a:off x="512064" y="1883664"/>
            <a:ext cx="1769364"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NetsPresso</a:t>
            </a:r>
            <a:endParaRPr lang="en-US" sz="1300" dirty="0"/>
          </a:p>
        </p:txBody>
      </p:sp>
      <p:sp>
        <p:nvSpPr>
          <p:cNvPr id="10" name="Text 8"/>
          <p:cNvSpPr/>
          <p:nvPr/>
        </p:nvSpPr>
        <p:spPr>
          <a:xfrm>
            <a:off x="512064" y="2176272"/>
            <a:ext cx="1769364" cy="164592"/>
          </a:xfrm>
          <a:prstGeom prst="rect">
            <a:avLst/>
          </a:prstGeom>
          <a:noFill/>
          <a:ln/>
        </p:spPr>
        <p:txBody>
          <a:bodyPr wrap="square" lIns="0" tIns="0" rIns="0" bIns="0" rtlCol="0" anchor="ctr"/>
          <a:lstStyle/>
          <a:p>
            <a:pPr indent="0" marL="0">
              <a:buNone/>
            </a:pPr>
            <a:r>
              <a:rPr lang="en-US" sz="780" b="1" dirty="0">
                <a:solidFill>
                  <a:srgbClr val="FF693C"/>
                </a:solidFill>
                <a:latin typeface="Pretendard" pitchFamily="34" charset="0"/>
                <a:ea typeface="Pretendard" pitchFamily="34" charset="-122"/>
                <a:cs typeface="Pretendard" pitchFamily="34" charset="-120"/>
              </a:rPr>
              <a:t>모델 경량화</a:t>
            </a:r>
            <a:endParaRPr lang="en-US" sz="780" dirty="0"/>
          </a:p>
        </p:txBody>
      </p:sp>
      <p:sp>
        <p:nvSpPr>
          <p:cNvPr id="11" name="Text 9"/>
          <p:cNvSpPr/>
          <p:nvPr/>
        </p:nvSpPr>
        <p:spPr>
          <a:xfrm>
            <a:off x="512064" y="2359152"/>
            <a:ext cx="1769364"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PTQ + QAT 자동화</a:t>
            </a:r>
            <a:endParaRPr lang="en-US" sz="900" dirty="0"/>
          </a:p>
        </p:txBody>
      </p:sp>
      <p:sp>
        <p:nvSpPr>
          <p:cNvPr id="12" name="Shape 10"/>
          <p:cNvSpPr/>
          <p:nvPr/>
        </p:nvSpPr>
        <p:spPr>
          <a:xfrm>
            <a:off x="512064" y="2743200"/>
            <a:ext cx="1769364" cy="0"/>
          </a:xfrm>
          <a:prstGeom prst="line">
            <a:avLst/>
          </a:prstGeom>
          <a:noFill/>
          <a:ln w="6350">
            <a:solidFill>
              <a:srgbClr val="2A2F44"/>
            </a:solidFill>
            <a:prstDash val="solid"/>
          </a:ln>
        </p:spPr>
      </p:sp>
      <p:sp>
        <p:nvSpPr>
          <p:cNvPr id="13" name="Text 11"/>
          <p:cNvSpPr/>
          <p:nvPr/>
        </p:nvSpPr>
        <p:spPr>
          <a:xfrm>
            <a:off x="512064" y="2834640"/>
            <a:ext cx="1769364"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VLA 모델 4-bit 양자화</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정확도 손실 &lt; 2%</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5x 추론 속도</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AWS Marketplace</a:t>
            </a:r>
            <a:endParaRPr lang="en-US" sz="840" dirty="0"/>
          </a:p>
        </p:txBody>
      </p:sp>
      <p:sp>
        <p:nvSpPr>
          <p:cNvPr id="14" name="Shape 12"/>
          <p:cNvSpPr/>
          <p:nvPr/>
        </p:nvSpPr>
        <p:spPr>
          <a:xfrm>
            <a:off x="2500884" y="1261872"/>
            <a:ext cx="2025396" cy="54864"/>
          </a:xfrm>
          <a:prstGeom prst="rect">
            <a:avLst/>
          </a:prstGeom>
          <a:solidFill>
            <a:srgbClr val="8B5CF6"/>
          </a:solidFill>
          <a:ln/>
        </p:spPr>
      </p:sp>
      <p:sp>
        <p:nvSpPr>
          <p:cNvPr id="15" name="Shape 13"/>
          <p:cNvSpPr/>
          <p:nvPr/>
        </p:nvSpPr>
        <p:spPr>
          <a:xfrm>
            <a:off x="2500884" y="1316736"/>
            <a:ext cx="2025396" cy="2734056"/>
          </a:xfrm>
          <a:prstGeom prst="rect">
            <a:avLst/>
          </a:prstGeom>
          <a:solidFill>
            <a:srgbClr val="1C1F30"/>
          </a:solidFill>
          <a:ln w="9525">
            <a:solidFill>
              <a:srgbClr val="2A2F44"/>
            </a:solidFill>
            <a:prstDash val="solid"/>
          </a:ln>
        </p:spPr>
      </p:sp>
      <p:sp>
        <p:nvSpPr>
          <p:cNvPr id="16" name="Text 14"/>
          <p:cNvSpPr/>
          <p:nvPr/>
        </p:nvSpPr>
        <p:spPr>
          <a:xfrm>
            <a:off x="2628900" y="1444752"/>
            <a:ext cx="1769364"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FURIOSAAI</a:t>
            </a:r>
            <a:endParaRPr lang="en-US" sz="800" dirty="0"/>
          </a:p>
        </p:txBody>
      </p:sp>
      <p:sp>
        <p:nvSpPr>
          <p:cNvPr id="17" name="Shape 15"/>
          <p:cNvSpPr/>
          <p:nvPr/>
        </p:nvSpPr>
        <p:spPr>
          <a:xfrm>
            <a:off x="2628900" y="1664208"/>
            <a:ext cx="502920" cy="164592"/>
          </a:xfrm>
          <a:prstGeom prst="roundRect">
            <a:avLst>
              <a:gd name="adj" fmla="val 33333"/>
            </a:avLst>
          </a:prstGeom>
          <a:solidFill>
            <a:srgbClr val="8B5CF6"/>
          </a:solidFill>
          <a:ln/>
        </p:spPr>
      </p:sp>
      <p:sp>
        <p:nvSpPr>
          <p:cNvPr id="18" name="Text 16"/>
          <p:cNvSpPr/>
          <p:nvPr/>
        </p:nvSpPr>
        <p:spPr>
          <a:xfrm>
            <a:off x="2628900"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NPU</a:t>
            </a:r>
            <a:endParaRPr lang="en-US" sz="680" dirty="0"/>
          </a:p>
        </p:txBody>
      </p:sp>
      <p:sp>
        <p:nvSpPr>
          <p:cNvPr id="19" name="Text 17"/>
          <p:cNvSpPr/>
          <p:nvPr/>
        </p:nvSpPr>
        <p:spPr>
          <a:xfrm>
            <a:off x="2628900" y="1883664"/>
            <a:ext cx="1769364"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RNGD</a:t>
            </a:r>
            <a:endParaRPr lang="en-US" sz="1300" dirty="0"/>
          </a:p>
        </p:txBody>
      </p:sp>
      <p:sp>
        <p:nvSpPr>
          <p:cNvPr id="20" name="Text 18"/>
          <p:cNvSpPr/>
          <p:nvPr/>
        </p:nvSpPr>
        <p:spPr>
          <a:xfrm>
            <a:off x="2628900" y="2176272"/>
            <a:ext cx="1769364" cy="164592"/>
          </a:xfrm>
          <a:prstGeom prst="rect">
            <a:avLst/>
          </a:prstGeom>
          <a:noFill/>
          <a:ln/>
        </p:spPr>
        <p:txBody>
          <a:bodyPr wrap="square" lIns="0" tIns="0" rIns="0" bIns="0" rtlCol="0" anchor="ctr"/>
          <a:lstStyle/>
          <a:p>
            <a:pPr indent="0" marL="0">
              <a:buNone/>
            </a:pPr>
            <a:r>
              <a:rPr lang="en-US" sz="780" b="1" dirty="0">
                <a:solidFill>
                  <a:srgbClr val="8B5CF6"/>
                </a:solidFill>
                <a:latin typeface="Pretendard" pitchFamily="34" charset="0"/>
                <a:ea typeface="Pretendard" pitchFamily="34" charset="-122"/>
                <a:cs typeface="Pretendard" pitchFamily="34" charset="-120"/>
              </a:rPr>
              <a:t>2025 양산</a:t>
            </a:r>
            <a:endParaRPr lang="en-US" sz="780" dirty="0"/>
          </a:p>
        </p:txBody>
      </p:sp>
      <p:sp>
        <p:nvSpPr>
          <p:cNvPr id="21" name="Text 19"/>
          <p:cNvSpPr/>
          <p:nvPr/>
        </p:nvSpPr>
        <p:spPr>
          <a:xfrm>
            <a:off x="2628900" y="2359152"/>
            <a:ext cx="1769364"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150 TOPS, 60W TDP</a:t>
            </a:r>
            <a:endParaRPr lang="en-US" sz="900" dirty="0"/>
          </a:p>
        </p:txBody>
      </p:sp>
      <p:sp>
        <p:nvSpPr>
          <p:cNvPr id="22" name="Shape 20"/>
          <p:cNvSpPr/>
          <p:nvPr/>
        </p:nvSpPr>
        <p:spPr>
          <a:xfrm>
            <a:off x="2628900" y="2743200"/>
            <a:ext cx="1769364" cy="0"/>
          </a:xfrm>
          <a:prstGeom prst="line">
            <a:avLst/>
          </a:prstGeom>
          <a:noFill/>
          <a:ln w="6350">
            <a:solidFill>
              <a:srgbClr val="2A2F44"/>
            </a:solidFill>
            <a:prstDash val="solid"/>
          </a:ln>
        </p:spPr>
      </p:sp>
      <p:sp>
        <p:nvSpPr>
          <p:cNvPr id="23" name="Text 21"/>
          <p:cNvSpPr/>
          <p:nvPr/>
        </p:nvSpPr>
        <p:spPr>
          <a:xfrm>
            <a:off x="2628900" y="2834640"/>
            <a:ext cx="1769364"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LLaMA·VLA 추론 특화</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데이터센터급 성능</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한국 fab 양산</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EC2 통합 검토</a:t>
            </a:r>
            <a:endParaRPr lang="en-US" sz="840" dirty="0"/>
          </a:p>
        </p:txBody>
      </p:sp>
      <p:sp>
        <p:nvSpPr>
          <p:cNvPr id="24" name="Shape 22"/>
          <p:cNvSpPr/>
          <p:nvPr/>
        </p:nvSpPr>
        <p:spPr>
          <a:xfrm>
            <a:off x="4617720" y="1261872"/>
            <a:ext cx="2025396" cy="54864"/>
          </a:xfrm>
          <a:prstGeom prst="rect">
            <a:avLst/>
          </a:prstGeom>
          <a:solidFill>
            <a:srgbClr val="1FBA8C"/>
          </a:solidFill>
          <a:ln/>
        </p:spPr>
      </p:sp>
      <p:sp>
        <p:nvSpPr>
          <p:cNvPr id="25" name="Shape 23"/>
          <p:cNvSpPr/>
          <p:nvPr/>
        </p:nvSpPr>
        <p:spPr>
          <a:xfrm>
            <a:off x="4617720" y="1316736"/>
            <a:ext cx="2025396" cy="2734056"/>
          </a:xfrm>
          <a:prstGeom prst="rect">
            <a:avLst/>
          </a:prstGeom>
          <a:solidFill>
            <a:srgbClr val="1C1F30"/>
          </a:solidFill>
          <a:ln w="9525">
            <a:solidFill>
              <a:srgbClr val="2A2F44"/>
            </a:solidFill>
            <a:prstDash val="solid"/>
          </a:ln>
        </p:spPr>
      </p:sp>
      <p:sp>
        <p:nvSpPr>
          <p:cNvPr id="26" name="Text 24"/>
          <p:cNvSpPr/>
          <p:nvPr/>
        </p:nvSpPr>
        <p:spPr>
          <a:xfrm>
            <a:off x="4745736" y="1444752"/>
            <a:ext cx="1769364"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DEEPX</a:t>
            </a:r>
            <a:endParaRPr lang="en-US" sz="800" dirty="0"/>
          </a:p>
        </p:txBody>
      </p:sp>
      <p:sp>
        <p:nvSpPr>
          <p:cNvPr id="27" name="Shape 25"/>
          <p:cNvSpPr/>
          <p:nvPr/>
        </p:nvSpPr>
        <p:spPr>
          <a:xfrm>
            <a:off x="4745736" y="1664208"/>
            <a:ext cx="502920" cy="164592"/>
          </a:xfrm>
          <a:prstGeom prst="roundRect">
            <a:avLst>
              <a:gd name="adj" fmla="val 33333"/>
            </a:avLst>
          </a:prstGeom>
          <a:solidFill>
            <a:srgbClr val="1FBA8C"/>
          </a:solidFill>
          <a:ln/>
        </p:spPr>
      </p:sp>
      <p:sp>
        <p:nvSpPr>
          <p:cNvPr id="28" name="Text 26"/>
          <p:cNvSpPr/>
          <p:nvPr/>
        </p:nvSpPr>
        <p:spPr>
          <a:xfrm>
            <a:off x="4745736"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EDGE</a:t>
            </a:r>
            <a:endParaRPr lang="en-US" sz="680" dirty="0"/>
          </a:p>
        </p:txBody>
      </p:sp>
      <p:sp>
        <p:nvSpPr>
          <p:cNvPr id="29" name="Text 27"/>
          <p:cNvSpPr/>
          <p:nvPr/>
        </p:nvSpPr>
        <p:spPr>
          <a:xfrm>
            <a:off x="4745736" y="1883664"/>
            <a:ext cx="1769364"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DX-M1 / DX-M2</a:t>
            </a:r>
            <a:endParaRPr lang="en-US" sz="1300" dirty="0"/>
          </a:p>
        </p:txBody>
      </p:sp>
      <p:sp>
        <p:nvSpPr>
          <p:cNvPr id="30" name="Text 28"/>
          <p:cNvSpPr/>
          <p:nvPr/>
        </p:nvSpPr>
        <p:spPr>
          <a:xfrm>
            <a:off x="4745736" y="2176272"/>
            <a:ext cx="1769364" cy="164592"/>
          </a:xfrm>
          <a:prstGeom prst="rect">
            <a:avLst/>
          </a:prstGeom>
          <a:noFill/>
          <a:ln/>
        </p:spPr>
        <p:txBody>
          <a:bodyPr wrap="square" lIns="0" tIns="0" rIns="0" bIns="0" rtlCol="0" anchor="ctr"/>
          <a:lstStyle/>
          <a:p>
            <a:pPr indent="0" marL="0">
              <a:buNone/>
            </a:pPr>
            <a:r>
              <a:rPr lang="en-US" sz="780" b="1" dirty="0">
                <a:solidFill>
                  <a:srgbClr val="1FBA8C"/>
                </a:solidFill>
                <a:latin typeface="Pretendard" pitchFamily="34" charset="0"/>
                <a:ea typeface="Pretendard" pitchFamily="34" charset="-122"/>
                <a:cs typeface="Pretendard" pitchFamily="34" charset="-120"/>
              </a:rPr>
              <a:t>2026 출시</a:t>
            </a:r>
            <a:endParaRPr lang="en-US" sz="780" dirty="0"/>
          </a:p>
        </p:txBody>
      </p:sp>
      <p:sp>
        <p:nvSpPr>
          <p:cNvPr id="31" name="Text 29"/>
          <p:cNvSpPr/>
          <p:nvPr/>
        </p:nvSpPr>
        <p:spPr>
          <a:xfrm>
            <a:off x="4745736" y="2359152"/>
            <a:ext cx="1769364"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엣지 NPU, 5W급</a:t>
            </a:r>
            <a:endParaRPr lang="en-US" sz="900" dirty="0"/>
          </a:p>
        </p:txBody>
      </p:sp>
      <p:sp>
        <p:nvSpPr>
          <p:cNvPr id="32" name="Shape 30"/>
          <p:cNvSpPr/>
          <p:nvPr/>
        </p:nvSpPr>
        <p:spPr>
          <a:xfrm>
            <a:off x="4745736" y="2743200"/>
            <a:ext cx="1769364" cy="0"/>
          </a:xfrm>
          <a:prstGeom prst="line">
            <a:avLst/>
          </a:prstGeom>
          <a:noFill/>
          <a:ln w="6350">
            <a:solidFill>
              <a:srgbClr val="2A2F44"/>
            </a:solidFill>
            <a:prstDash val="solid"/>
          </a:ln>
        </p:spPr>
      </p:sp>
      <p:sp>
        <p:nvSpPr>
          <p:cNvPr id="33" name="Text 31"/>
          <p:cNvSpPr/>
          <p:nvPr/>
        </p:nvSpPr>
        <p:spPr>
          <a:xfrm>
            <a:off x="4745736" y="2834640"/>
            <a:ext cx="1769364"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스마트팩토리 비전</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휴머노이드 SoC 후보</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Greengrass 호환</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Hyundai 협력</a:t>
            </a:r>
            <a:endParaRPr lang="en-US" sz="840" dirty="0"/>
          </a:p>
        </p:txBody>
      </p:sp>
      <p:sp>
        <p:nvSpPr>
          <p:cNvPr id="34" name="Shape 32"/>
          <p:cNvSpPr/>
          <p:nvPr/>
        </p:nvSpPr>
        <p:spPr>
          <a:xfrm>
            <a:off x="6734556" y="1261872"/>
            <a:ext cx="2025396" cy="54864"/>
          </a:xfrm>
          <a:prstGeom prst="rect">
            <a:avLst/>
          </a:prstGeom>
          <a:solidFill>
            <a:srgbClr val="5A9CFF"/>
          </a:solidFill>
          <a:ln/>
        </p:spPr>
      </p:sp>
      <p:sp>
        <p:nvSpPr>
          <p:cNvPr id="35" name="Shape 33"/>
          <p:cNvSpPr/>
          <p:nvPr/>
        </p:nvSpPr>
        <p:spPr>
          <a:xfrm>
            <a:off x="6734556" y="1316736"/>
            <a:ext cx="2025396" cy="2734056"/>
          </a:xfrm>
          <a:prstGeom prst="rect">
            <a:avLst/>
          </a:prstGeom>
          <a:solidFill>
            <a:srgbClr val="1C1F30"/>
          </a:solidFill>
          <a:ln w="9525">
            <a:solidFill>
              <a:srgbClr val="2A2F44"/>
            </a:solidFill>
            <a:prstDash val="solid"/>
          </a:ln>
        </p:spPr>
      </p:sp>
      <p:sp>
        <p:nvSpPr>
          <p:cNvPr id="36" name="Text 34"/>
          <p:cNvSpPr/>
          <p:nvPr/>
        </p:nvSpPr>
        <p:spPr>
          <a:xfrm>
            <a:off x="6862572" y="1444752"/>
            <a:ext cx="1769364"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MOBILINT</a:t>
            </a:r>
            <a:endParaRPr lang="en-US" sz="800" dirty="0"/>
          </a:p>
        </p:txBody>
      </p:sp>
      <p:sp>
        <p:nvSpPr>
          <p:cNvPr id="37" name="Shape 35"/>
          <p:cNvSpPr/>
          <p:nvPr/>
        </p:nvSpPr>
        <p:spPr>
          <a:xfrm>
            <a:off x="6862572" y="1664208"/>
            <a:ext cx="502920" cy="164592"/>
          </a:xfrm>
          <a:prstGeom prst="roundRect">
            <a:avLst>
              <a:gd name="adj" fmla="val 33333"/>
            </a:avLst>
          </a:prstGeom>
          <a:solidFill>
            <a:srgbClr val="5A9CFF"/>
          </a:solidFill>
          <a:ln/>
        </p:spPr>
      </p:sp>
      <p:sp>
        <p:nvSpPr>
          <p:cNvPr id="38" name="Text 36"/>
          <p:cNvSpPr/>
          <p:nvPr/>
        </p:nvSpPr>
        <p:spPr>
          <a:xfrm>
            <a:off x="6862572" y="1664208"/>
            <a:ext cx="502920" cy="164592"/>
          </a:xfrm>
          <a:prstGeom prst="rect">
            <a:avLst/>
          </a:prstGeom>
          <a:noFill/>
          <a:ln/>
        </p:spPr>
        <p:txBody>
          <a:bodyPr wrap="square" lIns="0" tIns="0" rIns="0" bIns="0" rtlCol="0" anchor="ctr"/>
          <a:lstStyle/>
          <a:p>
            <a:pPr algn="ctr" indent="0" marL="0">
              <a:buNone/>
            </a:pPr>
            <a:r>
              <a:rPr lang="en-US" sz="680" b="1" spc="100" kern="0" dirty="0">
                <a:solidFill>
                  <a:srgbClr val="1A1A1A"/>
                </a:solidFill>
                <a:latin typeface="Pretendard" pitchFamily="34" charset="0"/>
                <a:ea typeface="Pretendard" pitchFamily="34" charset="-122"/>
                <a:cs typeface="Pretendard" pitchFamily="34" charset="-120"/>
              </a:rPr>
              <a:t>VISION</a:t>
            </a:r>
            <a:endParaRPr lang="en-US" sz="680" dirty="0"/>
          </a:p>
        </p:txBody>
      </p:sp>
      <p:sp>
        <p:nvSpPr>
          <p:cNvPr id="39" name="Text 37"/>
          <p:cNvSpPr/>
          <p:nvPr/>
        </p:nvSpPr>
        <p:spPr>
          <a:xfrm>
            <a:off x="6862572" y="1883664"/>
            <a:ext cx="1769364" cy="274320"/>
          </a:xfrm>
          <a:prstGeom prst="rect">
            <a:avLst/>
          </a:prstGeom>
          <a:noFill/>
          <a:ln/>
        </p:spPr>
        <p:txBody>
          <a:bodyPr wrap="square" lIns="0" tIns="0" rIns="0" bIns="0" rtlCol="0" anchor="ctr"/>
          <a:lstStyle/>
          <a:p>
            <a:pPr indent="0" marL="0">
              <a:buNone/>
            </a:pPr>
            <a:r>
              <a:rPr lang="en-US" sz="1300" b="1" spc="-40" kern="0" dirty="0">
                <a:solidFill>
                  <a:srgbClr val="FFFFFF"/>
                </a:solidFill>
                <a:latin typeface="Pretendard" pitchFamily="34" charset="0"/>
                <a:ea typeface="Pretendard" pitchFamily="34" charset="-122"/>
                <a:cs typeface="Pretendard" pitchFamily="34" charset="-120"/>
              </a:rPr>
              <a:t>Aries / Regulus</a:t>
            </a:r>
            <a:endParaRPr lang="en-US" sz="1300" dirty="0"/>
          </a:p>
        </p:txBody>
      </p:sp>
      <p:sp>
        <p:nvSpPr>
          <p:cNvPr id="40" name="Text 38"/>
          <p:cNvSpPr/>
          <p:nvPr/>
        </p:nvSpPr>
        <p:spPr>
          <a:xfrm>
            <a:off x="6862572" y="2176272"/>
            <a:ext cx="1769364" cy="164592"/>
          </a:xfrm>
          <a:prstGeom prst="rect">
            <a:avLst/>
          </a:prstGeom>
          <a:noFill/>
          <a:ln/>
        </p:spPr>
        <p:txBody>
          <a:bodyPr wrap="square" lIns="0" tIns="0" rIns="0" bIns="0" rtlCol="0" anchor="ctr"/>
          <a:lstStyle/>
          <a:p>
            <a:pPr indent="0" marL="0">
              <a:buNone/>
            </a:pPr>
            <a:r>
              <a:rPr lang="en-US" sz="780" b="1" dirty="0">
                <a:solidFill>
                  <a:srgbClr val="5A9CFF"/>
                </a:solidFill>
                <a:latin typeface="Pretendard" pitchFamily="34" charset="0"/>
                <a:ea typeface="Pretendard" pitchFamily="34" charset="-122"/>
                <a:cs typeface="Pretendard" pitchFamily="34" charset="-120"/>
              </a:rPr>
              <a:t>양산 진행</a:t>
            </a:r>
            <a:endParaRPr lang="en-US" sz="780" dirty="0"/>
          </a:p>
        </p:txBody>
      </p:sp>
      <p:sp>
        <p:nvSpPr>
          <p:cNvPr id="41" name="Text 39"/>
          <p:cNvSpPr/>
          <p:nvPr/>
        </p:nvSpPr>
        <p:spPr>
          <a:xfrm>
            <a:off x="6862572" y="2359152"/>
            <a:ext cx="1769364" cy="329184"/>
          </a:xfrm>
          <a:prstGeom prst="rect">
            <a:avLst/>
          </a:prstGeom>
          <a:noFill/>
          <a:ln/>
        </p:spPr>
        <p:txBody>
          <a:bodyPr wrap="square" lIns="0" tIns="0" rIns="0" bIns="0" rtlCol="0" anchor="ctr"/>
          <a:lstStyle/>
          <a:p>
            <a:pPr indent="0" marL="0">
              <a:buNone/>
            </a:pPr>
            <a:r>
              <a:rPr lang="en-US" sz="900" dirty="0">
                <a:solidFill>
                  <a:srgbClr val="E2E4EC"/>
                </a:solidFill>
                <a:latin typeface="Pretendard" pitchFamily="34" charset="0"/>
                <a:ea typeface="Pretendard" pitchFamily="34" charset="-122"/>
                <a:cs typeface="Pretendard" pitchFamily="34" charset="-120"/>
              </a:rPr>
              <a:t>비전 추론 NPU</a:t>
            </a:r>
            <a:endParaRPr lang="en-US" sz="900" dirty="0"/>
          </a:p>
        </p:txBody>
      </p:sp>
      <p:sp>
        <p:nvSpPr>
          <p:cNvPr id="42" name="Shape 40"/>
          <p:cNvSpPr/>
          <p:nvPr/>
        </p:nvSpPr>
        <p:spPr>
          <a:xfrm>
            <a:off x="6862572" y="2743200"/>
            <a:ext cx="1769364" cy="0"/>
          </a:xfrm>
          <a:prstGeom prst="line">
            <a:avLst/>
          </a:prstGeom>
          <a:noFill/>
          <a:ln w="6350">
            <a:solidFill>
              <a:srgbClr val="2A2F44"/>
            </a:solidFill>
            <a:prstDash val="solid"/>
          </a:ln>
        </p:spPr>
      </p:sp>
      <p:sp>
        <p:nvSpPr>
          <p:cNvPr id="43" name="Text 41"/>
          <p:cNvSpPr/>
          <p:nvPr/>
        </p:nvSpPr>
        <p:spPr>
          <a:xfrm>
            <a:off x="6862572" y="2834640"/>
            <a:ext cx="1769364" cy="1106424"/>
          </a:xfrm>
          <a:prstGeom prst="rect">
            <a:avLst/>
          </a:prstGeom>
          <a:noFill/>
          <a:ln/>
        </p:spPr>
        <p:txBody>
          <a:bodyPr wrap="square" lIns="0" tIns="0" rIns="0" bIns="0" rtlCol="0" anchor="t"/>
          <a:lstStyle/>
          <a:p>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30 TOPS, 3W</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ADAS 검증 완료</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삼성전자 파운드리</a:t>
            </a:r>
            <a:pPr indent="0" marL="0">
              <a:spcAft>
                <a:spcPts val="400"/>
              </a:spcAft>
              <a:buNone/>
            </a:pPr>
            <a:r>
              <a:rPr lang="en-US" sz="840" dirty="0">
                <a:solidFill>
                  <a:srgbClr val="E2E4EC"/>
                </a:solidFill>
                <a:latin typeface="Pretendard" pitchFamily="34" charset="0"/>
                <a:ea typeface="Pretendard" pitchFamily="34" charset="-122"/>
                <a:cs typeface="Pretendard" pitchFamily="34" charset="-120"/>
              </a:rPr>
              <a:t>•  로봇 비전 채택</a:t>
            </a:r>
            <a:endParaRPr lang="en-US" sz="840" dirty="0"/>
          </a:p>
        </p:txBody>
      </p:sp>
      <p:sp>
        <p:nvSpPr>
          <p:cNvPr id="44" name="Text 42"/>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4사</a:t>
            </a:r>
            <a:endParaRPr lang="en-US" sz="1600" dirty="0"/>
          </a:p>
        </p:txBody>
      </p:sp>
      <p:sp>
        <p:nvSpPr>
          <p:cNvPr id="45" name="Text 43"/>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한국 NPU 생태계</a:t>
            </a:r>
            <a:endParaRPr lang="en-US" sz="750" dirty="0"/>
          </a:p>
        </p:txBody>
      </p:sp>
      <p:sp>
        <p:nvSpPr>
          <p:cNvPr id="46" name="Text 44"/>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&lt;10ms</a:t>
            </a:r>
            <a:endParaRPr lang="en-US" sz="1600" dirty="0"/>
          </a:p>
        </p:txBody>
      </p:sp>
      <p:sp>
        <p:nvSpPr>
          <p:cNvPr id="47" name="Text 45"/>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엣지 추론 latency</a:t>
            </a:r>
            <a:endParaRPr lang="en-US" sz="750" dirty="0"/>
          </a:p>
        </p:txBody>
      </p:sp>
      <p:sp>
        <p:nvSpPr>
          <p:cNvPr id="48" name="Text 46"/>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5W~60W</a:t>
            </a:r>
            <a:endParaRPr lang="en-US" sz="1600" dirty="0"/>
          </a:p>
        </p:txBody>
      </p:sp>
      <p:sp>
        <p:nvSpPr>
          <p:cNvPr id="49" name="Text 47"/>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TDP 범위</a:t>
            </a:r>
            <a:endParaRPr lang="en-US" sz="750" dirty="0"/>
          </a:p>
        </p:txBody>
      </p:sp>
      <p:sp>
        <p:nvSpPr>
          <p:cNvPr id="50" name="Text 48"/>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AWS 통합</a:t>
            </a:r>
            <a:endParaRPr lang="en-US" sz="1600" dirty="0"/>
          </a:p>
        </p:txBody>
      </p:sp>
      <p:sp>
        <p:nvSpPr>
          <p:cNvPr id="51" name="Text 49"/>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Marketplace 진행 중</a:t>
            </a:r>
            <a:endParaRPr lang="en-US" sz="750" dirty="0"/>
          </a:p>
        </p:txBody>
      </p:sp>
      <p:pic>
        <p:nvPicPr>
          <p:cNvPr id="52"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53" name="Text 50"/>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54" name="Text 51"/>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11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01C"/>
        </a:solidFill>
      </p:bgPr>
    </p:bg>
    <p:spTree>
      <p:nvGrpSpPr>
        <p:cNvPr id="1" name=""/>
        <p:cNvGrpSpPr/>
        <p:nvPr/>
      </p:nvGrpSpPr>
      <p:grpSpPr>
        <a:xfrm>
          <a:off x="0" y="0"/>
          <a:ext cx="0" cy="0"/>
          <a:chOff x="0" y="0"/>
          <a:chExt cx="0" cy="0"/>
        </a:xfrm>
      </p:grpSpPr>
      <p:sp>
        <p:nvSpPr>
          <p:cNvPr id="2" name="Text 0"/>
          <p:cNvSpPr/>
          <p:nvPr/>
        </p:nvSpPr>
        <p:spPr>
          <a:xfrm>
            <a:off x="384048" y="292608"/>
            <a:ext cx="8375904" cy="502920"/>
          </a:xfrm>
          <a:prstGeom prst="rect">
            <a:avLst/>
          </a:prstGeom>
          <a:noFill/>
          <a:ln/>
        </p:spPr>
        <p:txBody>
          <a:bodyPr wrap="square" lIns="0" tIns="0" rIns="0" bIns="0" rtlCol="0" anchor="t"/>
          <a:lstStyle/>
          <a:p>
            <a:pPr indent="0" marL="0">
              <a:buNone/>
            </a:pPr>
            <a:r>
              <a:rPr lang="en-US" sz="2600" b="1" spc="-80" kern="0" dirty="0">
                <a:solidFill>
                  <a:srgbClr val="FFFFFF"/>
                </a:solidFill>
                <a:latin typeface="Pretendard" pitchFamily="34" charset="0"/>
                <a:ea typeface="Pretendard" pitchFamily="34" charset="-122"/>
                <a:cs typeface="Pretendard" pitchFamily="34" charset="-120"/>
              </a:rPr>
              <a:t>한국 Physical AI 도입 4사례</a:t>
            </a:r>
            <a:endParaRPr lang="en-US" sz="2600" dirty="0"/>
          </a:p>
        </p:txBody>
      </p:sp>
      <p:sp>
        <p:nvSpPr>
          <p:cNvPr id="3" name="Text 1"/>
          <p:cNvSpPr/>
          <p:nvPr/>
        </p:nvSpPr>
        <p:spPr>
          <a:xfrm>
            <a:off x="384048" y="777240"/>
            <a:ext cx="8375904" cy="256032"/>
          </a:xfrm>
          <a:prstGeom prst="rect">
            <a:avLst/>
          </a:prstGeom>
          <a:noFill/>
          <a:ln/>
        </p:spPr>
        <p:txBody>
          <a:bodyPr wrap="square" lIns="0" tIns="0" rIns="0" bIns="0" rtlCol="0" anchor="t"/>
          <a:lstStyle/>
          <a:p>
            <a:pPr indent="0" marL="0">
              <a:buNone/>
            </a:pPr>
            <a:r>
              <a:rPr lang="en-US" sz="1200" b="1" dirty="0">
                <a:solidFill>
                  <a:srgbClr val="FF693C"/>
                </a:solidFill>
                <a:latin typeface="Pretendard" pitchFamily="34" charset="0"/>
                <a:ea typeface="Pretendard" pitchFamily="34" charset="-122"/>
                <a:cs typeface="Pretendard" pitchFamily="34" charset="-120"/>
              </a:rPr>
              <a:t>현대차 · LG · 두산 · 코웨이의 실제 워크로드</a:t>
            </a:r>
            <a:endParaRPr lang="en-US" sz="1200" dirty="0"/>
          </a:p>
        </p:txBody>
      </p:sp>
      <p:sp>
        <p:nvSpPr>
          <p:cNvPr id="4" name="Shape 2"/>
          <p:cNvSpPr/>
          <p:nvPr/>
        </p:nvSpPr>
        <p:spPr>
          <a:xfrm>
            <a:off x="384048" y="1261872"/>
            <a:ext cx="2926080" cy="54864"/>
          </a:xfrm>
          <a:prstGeom prst="rect">
            <a:avLst/>
          </a:prstGeom>
          <a:solidFill>
            <a:srgbClr val="FF693C"/>
          </a:solidFill>
          <a:ln/>
        </p:spPr>
      </p:sp>
      <p:sp>
        <p:nvSpPr>
          <p:cNvPr id="5" name="Shape 3"/>
          <p:cNvSpPr/>
          <p:nvPr/>
        </p:nvSpPr>
        <p:spPr>
          <a:xfrm>
            <a:off x="384048" y="1316736"/>
            <a:ext cx="2926080" cy="2734056"/>
          </a:xfrm>
          <a:prstGeom prst="rect">
            <a:avLst/>
          </a:prstGeom>
          <a:solidFill>
            <a:srgbClr val="1C1F30"/>
          </a:solidFill>
          <a:ln w="9525">
            <a:solidFill>
              <a:srgbClr val="2A2F44"/>
            </a:solidFill>
            <a:prstDash val="solid"/>
          </a:ln>
        </p:spPr>
      </p:sp>
      <p:sp>
        <p:nvSpPr>
          <p:cNvPr id="6" name="Text 4"/>
          <p:cNvSpPr/>
          <p:nvPr/>
        </p:nvSpPr>
        <p:spPr>
          <a:xfrm>
            <a:off x="530352" y="1444752"/>
            <a:ext cx="2633472" cy="182880"/>
          </a:xfrm>
          <a:prstGeom prst="rect">
            <a:avLst/>
          </a:prstGeom>
          <a:noFill/>
          <a:ln/>
        </p:spPr>
        <p:txBody>
          <a:bodyPr wrap="square" lIns="0" tIns="0" rIns="0" bIns="0" rtlCol="0" anchor="ctr"/>
          <a:lstStyle/>
          <a:p>
            <a:pPr indent="0" marL="0">
              <a:buNone/>
            </a:pPr>
            <a:r>
              <a:rPr lang="en-US" sz="800" b="1" spc="150" kern="0" dirty="0">
                <a:solidFill>
                  <a:srgbClr val="7B8198"/>
                </a:solidFill>
                <a:latin typeface="Pretendard" pitchFamily="34" charset="0"/>
                <a:ea typeface="Pretendard" pitchFamily="34" charset="-122"/>
                <a:cs typeface="Pretendard" pitchFamily="34" charset="-120"/>
              </a:rPr>
              <a:t>KOREA ADOPTION</a:t>
            </a:r>
            <a:endParaRPr lang="en-US" sz="800" dirty="0"/>
          </a:p>
        </p:txBody>
      </p:sp>
      <p:sp>
        <p:nvSpPr>
          <p:cNvPr id="7" name="Text 5"/>
          <p:cNvSpPr/>
          <p:nvPr/>
        </p:nvSpPr>
        <p:spPr>
          <a:xfrm>
            <a:off x="530352" y="1664208"/>
            <a:ext cx="2633472" cy="777240"/>
          </a:xfrm>
          <a:prstGeom prst="rect">
            <a:avLst/>
          </a:prstGeom>
          <a:noFill/>
          <a:ln/>
        </p:spPr>
        <p:txBody>
          <a:bodyPr wrap="square" lIns="0" tIns="0" rIns="0" bIns="0" rtlCol="0" anchor="ctr"/>
          <a:lstStyle/>
          <a:p>
            <a:pPr indent="0" marL="0">
              <a:buNone/>
            </a:pPr>
            <a:r>
              <a:rPr lang="en-US" sz="1900" b="1" spc="-60" kern="0" dirty="0">
                <a:solidFill>
                  <a:srgbClr val="FFFFFF"/>
                </a:solidFill>
                <a:latin typeface="Pretendard" pitchFamily="34" charset="0"/>
                <a:ea typeface="Pretendard" pitchFamily="34" charset="-122"/>
                <a:cs typeface="Pretendard" pitchFamily="34" charset="-120"/>
              </a:rPr>
              <a:t>축적의 시간</a:t>
            </a:r>
            <a:endParaRPr lang="en-US" sz="1900" dirty="0"/>
          </a:p>
          <a:p>
            <a:pPr indent="0" marL="0">
              <a:buNone/>
            </a:pPr>
            <a:r>
              <a:rPr lang="en-US" sz="1900" b="1" spc="-60" kern="0" dirty="0">
                <a:solidFill>
                  <a:srgbClr val="FFFFFF"/>
                </a:solidFill>
                <a:latin typeface="Pretendard" pitchFamily="34" charset="0"/>
                <a:ea typeface="Pretendard" pitchFamily="34" charset="-122"/>
                <a:cs typeface="Pretendard" pitchFamily="34" charset="-120"/>
              </a:rPr>
              <a:t>압축의 시간으로</a:t>
            </a:r>
            <a:endParaRPr lang="en-US" sz="1900" dirty="0"/>
          </a:p>
        </p:txBody>
      </p:sp>
      <p:sp>
        <p:nvSpPr>
          <p:cNvPr id="8" name="Text 6"/>
          <p:cNvSpPr/>
          <p:nvPr/>
        </p:nvSpPr>
        <p:spPr>
          <a:xfrm>
            <a:off x="530352" y="2606040"/>
            <a:ext cx="2633472" cy="1280160"/>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한국 제조 강국의 60년 노하우와 AWS Physical AI 스택이 만나면서, 양산 휴머노이드와 자율로봇 영역에서 빠르게 글로벌 경쟁력을 확보하고 있습니다.</a:t>
            </a:r>
            <a:endParaRPr lang="en-US" sz="900" dirty="0"/>
          </a:p>
        </p:txBody>
      </p:sp>
      <p:sp>
        <p:nvSpPr>
          <p:cNvPr id="9" name="Shape 7"/>
          <p:cNvSpPr/>
          <p:nvPr/>
        </p:nvSpPr>
        <p:spPr>
          <a:xfrm>
            <a:off x="3456432" y="1261872"/>
            <a:ext cx="2606040" cy="54864"/>
          </a:xfrm>
          <a:prstGeom prst="rect">
            <a:avLst/>
          </a:prstGeom>
          <a:solidFill>
            <a:srgbClr val="002C5F"/>
          </a:solidFill>
          <a:ln/>
        </p:spPr>
      </p:sp>
      <p:sp>
        <p:nvSpPr>
          <p:cNvPr id="10" name="Shape 8"/>
          <p:cNvSpPr/>
          <p:nvPr/>
        </p:nvSpPr>
        <p:spPr>
          <a:xfrm>
            <a:off x="3456432" y="1316736"/>
            <a:ext cx="2606040" cy="1293876"/>
          </a:xfrm>
          <a:prstGeom prst="rect">
            <a:avLst/>
          </a:prstGeom>
          <a:solidFill>
            <a:srgbClr val="1C1F30"/>
          </a:solidFill>
          <a:ln w="9525">
            <a:solidFill>
              <a:srgbClr val="2A2F44"/>
            </a:solidFill>
            <a:prstDash val="solid"/>
          </a:ln>
        </p:spPr>
      </p:sp>
      <p:sp>
        <p:nvSpPr>
          <p:cNvPr id="11" name="Text 9"/>
          <p:cNvSpPr/>
          <p:nvPr/>
        </p:nvSpPr>
        <p:spPr>
          <a:xfrm>
            <a:off x="3584448" y="1426464"/>
            <a:ext cx="2350008" cy="182880"/>
          </a:xfrm>
          <a:prstGeom prst="rect">
            <a:avLst/>
          </a:prstGeom>
          <a:noFill/>
          <a:ln/>
        </p:spPr>
        <p:txBody>
          <a:bodyPr wrap="square" lIns="0" tIns="0" rIns="0" bIns="0" rtlCol="0" anchor="ctr"/>
          <a:lstStyle/>
          <a:p>
            <a:pPr indent="0" marL="0">
              <a:buNone/>
            </a:pPr>
            <a:r>
              <a:rPr lang="en-US" sz="750" b="1" spc="150" kern="0" dirty="0">
                <a:solidFill>
                  <a:srgbClr val="7B8198"/>
                </a:solidFill>
                <a:latin typeface="Pretendard" pitchFamily="34" charset="0"/>
                <a:ea typeface="Pretendard" pitchFamily="34" charset="-122"/>
                <a:cs typeface="Pretendard" pitchFamily="34" charset="-120"/>
              </a:rPr>
              <a:t>HYUNDAI MOTOR GROUP</a:t>
            </a:r>
            <a:endParaRPr lang="en-US" sz="750" dirty="0"/>
          </a:p>
        </p:txBody>
      </p:sp>
      <p:sp>
        <p:nvSpPr>
          <p:cNvPr id="12" name="Text 10"/>
          <p:cNvSpPr/>
          <p:nvPr/>
        </p:nvSpPr>
        <p:spPr>
          <a:xfrm>
            <a:off x="3584448" y="1645920"/>
            <a:ext cx="2350008" cy="310896"/>
          </a:xfrm>
          <a:prstGeom prst="rect">
            <a:avLst/>
          </a:prstGeom>
          <a:noFill/>
          <a:ln/>
        </p:spPr>
        <p:txBody>
          <a:bodyPr wrap="square" lIns="0" tIns="0" rIns="0" bIns="0" rtlCol="0" anchor="ctr"/>
          <a:lstStyle/>
          <a:p>
            <a:pPr indent="0" marL="0">
              <a:buNone/>
            </a:pPr>
            <a:r>
              <a:rPr lang="en-US" sz="1200" b="1" spc="-40" kern="0" dirty="0">
                <a:solidFill>
                  <a:srgbClr val="FFFFFF"/>
                </a:solidFill>
                <a:latin typeface="Pretendard" pitchFamily="34" charset="0"/>
                <a:ea typeface="Pretendard" pitchFamily="34" charset="-122"/>
                <a:cs typeface="Pretendard" pitchFamily="34" charset="-120"/>
              </a:rPr>
              <a:t>All-Electric Atlas 양산</a:t>
            </a:r>
            <a:endParaRPr lang="en-US" sz="1200" dirty="0"/>
          </a:p>
        </p:txBody>
      </p:sp>
      <p:sp>
        <p:nvSpPr>
          <p:cNvPr id="13" name="Text 11"/>
          <p:cNvSpPr/>
          <p:nvPr/>
        </p:nvSpPr>
        <p:spPr>
          <a:xfrm>
            <a:off x="3584448" y="2029968"/>
            <a:ext cx="2350008" cy="457200"/>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BD 인수 후 첫 양산 휴머노이드, 한국 공장 적용</a:t>
            </a:r>
            <a:endParaRPr lang="en-US" sz="900" dirty="0"/>
          </a:p>
        </p:txBody>
      </p:sp>
      <p:sp>
        <p:nvSpPr>
          <p:cNvPr id="14" name="Shape 12"/>
          <p:cNvSpPr/>
          <p:nvPr/>
        </p:nvSpPr>
        <p:spPr>
          <a:xfrm>
            <a:off x="6153912" y="1261872"/>
            <a:ext cx="2606040" cy="54864"/>
          </a:xfrm>
          <a:prstGeom prst="rect">
            <a:avLst/>
          </a:prstGeom>
          <a:solidFill>
            <a:srgbClr val="FF693C"/>
          </a:solidFill>
          <a:ln/>
        </p:spPr>
      </p:sp>
      <p:sp>
        <p:nvSpPr>
          <p:cNvPr id="15" name="Shape 13"/>
          <p:cNvSpPr/>
          <p:nvPr/>
        </p:nvSpPr>
        <p:spPr>
          <a:xfrm>
            <a:off x="6153912" y="1316736"/>
            <a:ext cx="2606040" cy="1293876"/>
          </a:xfrm>
          <a:prstGeom prst="rect">
            <a:avLst/>
          </a:prstGeom>
          <a:solidFill>
            <a:srgbClr val="1C1F30"/>
          </a:solidFill>
          <a:ln w="9525">
            <a:solidFill>
              <a:srgbClr val="2A2F44"/>
            </a:solidFill>
            <a:prstDash val="solid"/>
          </a:ln>
        </p:spPr>
      </p:sp>
      <p:sp>
        <p:nvSpPr>
          <p:cNvPr id="16" name="Text 14"/>
          <p:cNvSpPr/>
          <p:nvPr/>
        </p:nvSpPr>
        <p:spPr>
          <a:xfrm>
            <a:off x="6281928" y="1426464"/>
            <a:ext cx="2350008" cy="182880"/>
          </a:xfrm>
          <a:prstGeom prst="rect">
            <a:avLst/>
          </a:prstGeom>
          <a:noFill/>
          <a:ln/>
        </p:spPr>
        <p:txBody>
          <a:bodyPr wrap="square" lIns="0" tIns="0" rIns="0" bIns="0" rtlCol="0" anchor="ctr"/>
          <a:lstStyle/>
          <a:p>
            <a:pPr indent="0" marL="0">
              <a:buNone/>
            </a:pPr>
            <a:r>
              <a:rPr lang="en-US" sz="750" b="1" spc="150" kern="0" dirty="0">
                <a:solidFill>
                  <a:srgbClr val="7B8198"/>
                </a:solidFill>
                <a:latin typeface="Pretendard" pitchFamily="34" charset="0"/>
                <a:ea typeface="Pretendard" pitchFamily="34" charset="-122"/>
                <a:cs typeface="Pretendard" pitchFamily="34" charset="-120"/>
              </a:rPr>
              <a:t>LG ELECTRONICS</a:t>
            </a:r>
            <a:endParaRPr lang="en-US" sz="750" dirty="0"/>
          </a:p>
        </p:txBody>
      </p:sp>
      <p:sp>
        <p:nvSpPr>
          <p:cNvPr id="17" name="Text 15"/>
          <p:cNvSpPr/>
          <p:nvPr/>
        </p:nvSpPr>
        <p:spPr>
          <a:xfrm>
            <a:off x="6281928" y="1645920"/>
            <a:ext cx="2350008" cy="310896"/>
          </a:xfrm>
          <a:prstGeom prst="rect">
            <a:avLst/>
          </a:prstGeom>
          <a:noFill/>
          <a:ln/>
        </p:spPr>
        <p:txBody>
          <a:bodyPr wrap="square" lIns="0" tIns="0" rIns="0" bIns="0" rtlCol="0" anchor="ctr"/>
          <a:lstStyle/>
          <a:p>
            <a:pPr indent="0" marL="0">
              <a:buNone/>
            </a:pPr>
            <a:r>
              <a:rPr lang="en-US" sz="1200" b="1" spc="-40" kern="0" dirty="0">
                <a:solidFill>
                  <a:srgbClr val="FFFFFF"/>
                </a:solidFill>
                <a:latin typeface="Pretendard" pitchFamily="34" charset="0"/>
                <a:ea typeface="Pretendard" pitchFamily="34" charset="-122"/>
                <a:cs typeface="Pretendard" pitchFamily="34" charset="-120"/>
              </a:rPr>
              <a:t>스마트팩토리 자율로봇</a:t>
            </a:r>
            <a:endParaRPr lang="en-US" sz="1200" dirty="0"/>
          </a:p>
        </p:txBody>
      </p:sp>
      <p:sp>
        <p:nvSpPr>
          <p:cNvPr id="18" name="Text 16"/>
          <p:cNvSpPr/>
          <p:nvPr/>
        </p:nvSpPr>
        <p:spPr>
          <a:xfrm>
            <a:off x="6281928" y="2029968"/>
            <a:ext cx="2350008" cy="457200"/>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구미·창원 공장 비전 검사 + 물류 로봇</a:t>
            </a:r>
            <a:endParaRPr lang="en-US" sz="900" dirty="0"/>
          </a:p>
        </p:txBody>
      </p:sp>
      <p:sp>
        <p:nvSpPr>
          <p:cNvPr id="19" name="Shape 17"/>
          <p:cNvSpPr/>
          <p:nvPr/>
        </p:nvSpPr>
        <p:spPr>
          <a:xfrm>
            <a:off x="3456432" y="2702052"/>
            <a:ext cx="2606040" cy="54864"/>
          </a:xfrm>
          <a:prstGeom prst="rect">
            <a:avLst/>
          </a:prstGeom>
          <a:solidFill>
            <a:srgbClr val="A78BFA"/>
          </a:solidFill>
          <a:ln/>
        </p:spPr>
      </p:sp>
      <p:sp>
        <p:nvSpPr>
          <p:cNvPr id="20" name="Shape 18"/>
          <p:cNvSpPr/>
          <p:nvPr/>
        </p:nvSpPr>
        <p:spPr>
          <a:xfrm>
            <a:off x="3456432" y="2756916"/>
            <a:ext cx="2606040" cy="1293876"/>
          </a:xfrm>
          <a:prstGeom prst="rect">
            <a:avLst/>
          </a:prstGeom>
          <a:solidFill>
            <a:srgbClr val="1C1F30"/>
          </a:solidFill>
          <a:ln w="9525">
            <a:solidFill>
              <a:srgbClr val="2A2F44"/>
            </a:solidFill>
            <a:prstDash val="solid"/>
          </a:ln>
        </p:spPr>
      </p:sp>
      <p:sp>
        <p:nvSpPr>
          <p:cNvPr id="21" name="Text 19"/>
          <p:cNvSpPr/>
          <p:nvPr/>
        </p:nvSpPr>
        <p:spPr>
          <a:xfrm>
            <a:off x="3584448" y="2866644"/>
            <a:ext cx="2350008" cy="182880"/>
          </a:xfrm>
          <a:prstGeom prst="rect">
            <a:avLst/>
          </a:prstGeom>
          <a:noFill/>
          <a:ln/>
        </p:spPr>
        <p:txBody>
          <a:bodyPr wrap="square" lIns="0" tIns="0" rIns="0" bIns="0" rtlCol="0" anchor="ctr"/>
          <a:lstStyle/>
          <a:p>
            <a:pPr indent="0" marL="0">
              <a:buNone/>
            </a:pPr>
            <a:r>
              <a:rPr lang="en-US" sz="750" b="1" spc="150" kern="0" dirty="0">
                <a:solidFill>
                  <a:srgbClr val="7B8198"/>
                </a:solidFill>
                <a:latin typeface="Pretendard" pitchFamily="34" charset="0"/>
                <a:ea typeface="Pretendard" pitchFamily="34" charset="-122"/>
                <a:cs typeface="Pretendard" pitchFamily="34" charset="-120"/>
              </a:rPr>
              <a:t>DOOSAN ROBOTICS</a:t>
            </a:r>
            <a:endParaRPr lang="en-US" sz="750" dirty="0"/>
          </a:p>
        </p:txBody>
      </p:sp>
      <p:sp>
        <p:nvSpPr>
          <p:cNvPr id="22" name="Text 20"/>
          <p:cNvSpPr/>
          <p:nvPr/>
        </p:nvSpPr>
        <p:spPr>
          <a:xfrm>
            <a:off x="3584448" y="3086100"/>
            <a:ext cx="2350008" cy="310896"/>
          </a:xfrm>
          <a:prstGeom prst="rect">
            <a:avLst/>
          </a:prstGeom>
          <a:noFill/>
          <a:ln/>
        </p:spPr>
        <p:txBody>
          <a:bodyPr wrap="square" lIns="0" tIns="0" rIns="0" bIns="0" rtlCol="0" anchor="ctr"/>
          <a:lstStyle/>
          <a:p>
            <a:pPr indent="0" marL="0">
              <a:buNone/>
            </a:pPr>
            <a:r>
              <a:rPr lang="en-US" sz="1200" b="1" spc="-40" kern="0" dirty="0">
                <a:solidFill>
                  <a:srgbClr val="FFFFFF"/>
                </a:solidFill>
                <a:latin typeface="Pretendard" pitchFamily="34" charset="0"/>
                <a:ea typeface="Pretendard" pitchFamily="34" charset="-122"/>
                <a:cs typeface="Pretendard" pitchFamily="34" charset="-120"/>
              </a:rPr>
              <a:t>협동로봇 + GenAI</a:t>
            </a:r>
            <a:endParaRPr lang="en-US" sz="1200" dirty="0"/>
          </a:p>
        </p:txBody>
      </p:sp>
      <p:sp>
        <p:nvSpPr>
          <p:cNvPr id="23" name="Text 21"/>
          <p:cNvSpPr/>
          <p:nvPr/>
        </p:nvSpPr>
        <p:spPr>
          <a:xfrm>
            <a:off x="3584448" y="3470148"/>
            <a:ext cx="2350008" cy="457200"/>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AI·VLA 결합한 차세대 협동로봇 개발</a:t>
            </a:r>
            <a:endParaRPr lang="en-US" sz="900" dirty="0"/>
          </a:p>
        </p:txBody>
      </p:sp>
      <p:sp>
        <p:nvSpPr>
          <p:cNvPr id="24" name="Shape 22"/>
          <p:cNvSpPr/>
          <p:nvPr/>
        </p:nvSpPr>
        <p:spPr>
          <a:xfrm>
            <a:off x="6153912" y="2702052"/>
            <a:ext cx="2606040" cy="54864"/>
          </a:xfrm>
          <a:prstGeom prst="rect">
            <a:avLst/>
          </a:prstGeom>
          <a:solidFill>
            <a:srgbClr val="1FBA8C"/>
          </a:solidFill>
          <a:ln/>
        </p:spPr>
      </p:sp>
      <p:sp>
        <p:nvSpPr>
          <p:cNvPr id="25" name="Shape 23"/>
          <p:cNvSpPr/>
          <p:nvPr/>
        </p:nvSpPr>
        <p:spPr>
          <a:xfrm>
            <a:off x="6153912" y="2756916"/>
            <a:ext cx="2606040" cy="1293876"/>
          </a:xfrm>
          <a:prstGeom prst="rect">
            <a:avLst/>
          </a:prstGeom>
          <a:solidFill>
            <a:srgbClr val="1C1F30"/>
          </a:solidFill>
          <a:ln w="9525">
            <a:solidFill>
              <a:srgbClr val="2A2F44"/>
            </a:solidFill>
            <a:prstDash val="solid"/>
          </a:ln>
        </p:spPr>
      </p:sp>
      <p:sp>
        <p:nvSpPr>
          <p:cNvPr id="26" name="Text 24"/>
          <p:cNvSpPr/>
          <p:nvPr/>
        </p:nvSpPr>
        <p:spPr>
          <a:xfrm>
            <a:off x="6281928" y="2866644"/>
            <a:ext cx="2350008" cy="182880"/>
          </a:xfrm>
          <a:prstGeom prst="rect">
            <a:avLst/>
          </a:prstGeom>
          <a:noFill/>
          <a:ln/>
        </p:spPr>
        <p:txBody>
          <a:bodyPr wrap="square" lIns="0" tIns="0" rIns="0" bIns="0" rtlCol="0" anchor="ctr"/>
          <a:lstStyle/>
          <a:p>
            <a:pPr indent="0" marL="0">
              <a:buNone/>
            </a:pPr>
            <a:r>
              <a:rPr lang="en-US" sz="750" b="1" spc="150" kern="0" dirty="0">
                <a:solidFill>
                  <a:srgbClr val="7B8198"/>
                </a:solidFill>
                <a:latin typeface="Pretendard" pitchFamily="34" charset="0"/>
                <a:ea typeface="Pretendard" pitchFamily="34" charset="-122"/>
                <a:cs typeface="Pretendard" pitchFamily="34" charset="-120"/>
              </a:rPr>
              <a:t>COWAY</a:t>
            </a:r>
            <a:endParaRPr lang="en-US" sz="750" dirty="0"/>
          </a:p>
        </p:txBody>
      </p:sp>
      <p:sp>
        <p:nvSpPr>
          <p:cNvPr id="27" name="Text 25"/>
          <p:cNvSpPr/>
          <p:nvPr/>
        </p:nvSpPr>
        <p:spPr>
          <a:xfrm>
            <a:off x="6281928" y="3086100"/>
            <a:ext cx="2350008" cy="310896"/>
          </a:xfrm>
          <a:prstGeom prst="rect">
            <a:avLst/>
          </a:prstGeom>
          <a:noFill/>
          <a:ln/>
        </p:spPr>
        <p:txBody>
          <a:bodyPr wrap="square" lIns="0" tIns="0" rIns="0" bIns="0" rtlCol="0" anchor="ctr"/>
          <a:lstStyle/>
          <a:p>
            <a:pPr indent="0" marL="0">
              <a:buNone/>
            </a:pPr>
            <a:r>
              <a:rPr lang="en-US" sz="1200" b="1" spc="-40" kern="0" dirty="0">
                <a:solidFill>
                  <a:srgbClr val="FFFFFF"/>
                </a:solidFill>
                <a:latin typeface="Pretendard" pitchFamily="34" charset="0"/>
                <a:ea typeface="Pretendard" pitchFamily="34" charset="-122"/>
                <a:cs typeface="Pretendard" pitchFamily="34" charset="-120"/>
              </a:rPr>
              <a:t>가정용 청정·정수 자율화</a:t>
            </a:r>
            <a:endParaRPr lang="en-US" sz="1200" dirty="0"/>
          </a:p>
        </p:txBody>
      </p:sp>
      <p:sp>
        <p:nvSpPr>
          <p:cNvPr id="28" name="Text 26"/>
          <p:cNvSpPr/>
          <p:nvPr/>
        </p:nvSpPr>
        <p:spPr>
          <a:xfrm>
            <a:off x="6281928" y="3470148"/>
            <a:ext cx="2350008" cy="457200"/>
          </a:xfrm>
          <a:prstGeom prst="rect">
            <a:avLst/>
          </a:prstGeom>
          <a:noFill/>
          <a:ln/>
        </p:spPr>
        <p:txBody>
          <a:bodyPr wrap="square" lIns="0" tIns="0" rIns="0" bIns="0" rtlCol="0" anchor="t"/>
          <a:lstStyle/>
          <a:p>
            <a:pPr indent="0" marL="0">
              <a:buNone/>
            </a:pPr>
            <a:r>
              <a:rPr lang="en-US" sz="900" dirty="0">
                <a:solidFill>
                  <a:srgbClr val="E2E4EC"/>
                </a:solidFill>
                <a:latin typeface="Pretendard" pitchFamily="34" charset="0"/>
                <a:ea typeface="Pretendard" pitchFamily="34" charset="-122"/>
                <a:cs typeface="Pretendard" pitchFamily="34" charset="-120"/>
              </a:rPr>
              <a:t>필터·관리 자동화 + 비전 기반 진단</a:t>
            </a:r>
            <a:endParaRPr lang="en-US" sz="900" dirty="0"/>
          </a:p>
        </p:txBody>
      </p:sp>
      <p:sp>
        <p:nvSpPr>
          <p:cNvPr id="29" name="Text 27"/>
          <p:cNvSpPr/>
          <p:nvPr/>
        </p:nvSpPr>
        <p:spPr>
          <a:xfrm>
            <a:off x="384048"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4사</a:t>
            </a:r>
            <a:endParaRPr lang="en-US" sz="1600" dirty="0"/>
          </a:p>
        </p:txBody>
      </p:sp>
      <p:sp>
        <p:nvSpPr>
          <p:cNvPr id="30" name="Text 28"/>
          <p:cNvSpPr/>
          <p:nvPr/>
        </p:nvSpPr>
        <p:spPr>
          <a:xfrm>
            <a:off x="384048"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주요 한국 고객</a:t>
            </a:r>
            <a:endParaRPr lang="en-US" sz="750" dirty="0"/>
          </a:p>
        </p:txBody>
      </p:sp>
      <p:sp>
        <p:nvSpPr>
          <p:cNvPr id="31" name="Text 29"/>
          <p:cNvSpPr/>
          <p:nvPr/>
        </p:nvSpPr>
        <p:spPr>
          <a:xfrm>
            <a:off x="2500884"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양산 단계</a:t>
            </a:r>
            <a:endParaRPr lang="en-US" sz="1600" dirty="0"/>
          </a:p>
        </p:txBody>
      </p:sp>
      <p:sp>
        <p:nvSpPr>
          <p:cNvPr id="32" name="Text 30"/>
          <p:cNvSpPr/>
          <p:nvPr/>
        </p:nvSpPr>
        <p:spPr>
          <a:xfrm>
            <a:off x="2500884"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현대차 Atlas</a:t>
            </a:r>
            <a:endParaRPr lang="en-US" sz="750" dirty="0"/>
          </a:p>
        </p:txBody>
      </p:sp>
      <p:sp>
        <p:nvSpPr>
          <p:cNvPr id="33" name="Text 31"/>
          <p:cNvSpPr/>
          <p:nvPr/>
        </p:nvSpPr>
        <p:spPr>
          <a:xfrm>
            <a:off x="4617720"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POC</a:t>
            </a:r>
            <a:endParaRPr lang="en-US" sz="1600" dirty="0"/>
          </a:p>
        </p:txBody>
      </p:sp>
      <p:sp>
        <p:nvSpPr>
          <p:cNvPr id="34" name="Text 32"/>
          <p:cNvSpPr/>
          <p:nvPr/>
        </p:nvSpPr>
        <p:spPr>
          <a:xfrm>
            <a:off x="4617720"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두산·LG·코웨이</a:t>
            </a:r>
            <a:endParaRPr lang="en-US" sz="750" dirty="0"/>
          </a:p>
        </p:txBody>
      </p:sp>
      <p:sp>
        <p:nvSpPr>
          <p:cNvPr id="35" name="Text 33"/>
          <p:cNvSpPr/>
          <p:nvPr/>
        </p:nvSpPr>
        <p:spPr>
          <a:xfrm>
            <a:off x="6734556" y="4224528"/>
            <a:ext cx="2025396" cy="256032"/>
          </a:xfrm>
          <a:prstGeom prst="rect">
            <a:avLst/>
          </a:prstGeom>
          <a:noFill/>
          <a:ln/>
        </p:spPr>
        <p:txBody>
          <a:bodyPr wrap="square" lIns="0" tIns="0" rIns="0" bIns="0" rtlCol="0" anchor="t"/>
          <a:lstStyle/>
          <a:p>
            <a:pPr indent="0" marL="0">
              <a:buNone/>
            </a:pPr>
            <a:r>
              <a:rPr lang="en-US" sz="1600" b="1" spc="-50" kern="0" dirty="0">
                <a:solidFill>
                  <a:srgbClr val="FFFFFF"/>
                </a:solidFill>
                <a:latin typeface="Pretendard" pitchFamily="34" charset="0"/>
                <a:ea typeface="Pretendard" pitchFamily="34" charset="-122"/>
                <a:cs typeface="Pretendard" pitchFamily="34" charset="-120"/>
              </a:rPr>
              <a:t>100%</a:t>
            </a:r>
            <a:endParaRPr lang="en-US" sz="1600" dirty="0"/>
          </a:p>
        </p:txBody>
      </p:sp>
      <p:sp>
        <p:nvSpPr>
          <p:cNvPr id="36" name="Text 34"/>
          <p:cNvSpPr/>
          <p:nvPr/>
        </p:nvSpPr>
        <p:spPr>
          <a:xfrm>
            <a:off x="6734556" y="4498848"/>
            <a:ext cx="2025396" cy="228600"/>
          </a:xfrm>
          <a:prstGeom prst="rect">
            <a:avLst/>
          </a:prstGeom>
          <a:noFill/>
          <a:ln/>
        </p:spPr>
        <p:txBody>
          <a:bodyPr wrap="square" lIns="0" tIns="0" rIns="0" bIns="0" rtlCol="0" anchor="t"/>
          <a:lstStyle/>
          <a:p>
            <a:pPr indent="0" marL="0">
              <a:buNone/>
            </a:pPr>
            <a:r>
              <a:rPr lang="en-US" sz="750" dirty="0">
                <a:solidFill>
                  <a:srgbClr val="A6ABBE"/>
                </a:solidFill>
                <a:latin typeface="Pretendard" pitchFamily="34" charset="0"/>
                <a:ea typeface="Pretendard" pitchFamily="34" charset="-122"/>
                <a:cs typeface="Pretendard" pitchFamily="34" charset="-120"/>
              </a:rPr>
              <a:t>AWS 인프라 활용</a:t>
            </a:r>
            <a:endParaRPr lang="en-US" sz="750" dirty="0"/>
          </a:p>
        </p:txBody>
      </p:sp>
      <p:pic>
        <p:nvPicPr>
          <p:cNvPr id="37" name="Image 0" descr="/home/claude/aws_logo_white.png">    </p:cNvPr>
          <p:cNvPicPr>
            <a:picLocks noChangeAspect="1"/>
          </p:cNvPicPr>
          <p:nvPr/>
        </p:nvPicPr>
        <p:blipFill>
          <a:blip r:embed="rId1"/>
          <a:stretch>
            <a:fillRect/>
          </a:stretch>
        </p:blipFill>
        <p:spPr>
          <a:xfrm>
            <a:off x="384048" y="4762195"/>
            <a:ext cx="315468" cy="210312"/>
          </a:xfrm>
          <a:prstGeom prst="rect">
            <a:avLst/>
          </a:prstGeom>
        </p:spPr>
      </p:pic>
      <p:sp>
        <p:nvSpPr>
          <p:cNvPr id="38" name="Text 35"/>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39" name="Text 36"/>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12</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84048" y="2286000"/>
            <a:ext cx="7772400" cy="777240"/>
          </a:xfrm>
          <a:prstGeom prst="rect">
            <a:avLst/>
          </a:prstGeom>
          <a:noFill/>
          <a:ln/>
        </p:spPr>
        <p:txBody>
          <a:bodyPr wrap="square" lIns="0" tIns="0" rIns="0" bIns="0" rtlCol="0" anchor="ctr"/>
          <a:lstStyle/>
          <a:p>
            <a:pPr indent="0" marL="0">
              <a:buNone/>
            </a:pPr>
            <a:r>
              <a:rPr lang="en-US" sz="4400" spc="-150" kern="0" dirty="0">
                <a:solidFill>
                  <a:srgbClr val="FFFFFF"/>
                </a:solidFill>
                <a:latin typeface="Pretendard" pitchFamily="34" charset="0"/>
                <a:ea typeface="Pretendard" pitchFamily="34" charset="-122"/>
                <a:cs typeface="Pretendard" pitchFamily="34" charset="-120"/>
              </a:rPr>
              <a:t>Thank you.</a:t>
            </a:r>
            <a:endParaRPr lang="en-US" sz="4400" dirty="0"/>
          </a:p>
        </p:txBody>
      </p:sp>
      <p:pic>
        <p:nvPicPr>
          <p:cNvPr id="3" name="Image 0" descr="/home/claude/aws_logo_white.png">    </p:cNvPr>
          <p:cNvPicPr>
            <a:picLocks noChangeAspect="1"/>
          </p:cNvPicPr>
          <p:nvPr/>
        </p:nvPicPr>
        <p:blipFill>
          <a:blip r:embed="rId2"/>
          <a:stretch>
            <a:fillRect/>
          </a:stretch>
        </p:blipFill>
        <p:spPr>
          <a:xfrm>
            <a:off x="384048" y="4762195"/>
            <a:ext cx="315468" cy="210312"/>
          </a:xfrm>
          <a:prstGeom prst="rect">
            <a:avLst/>
          </a:prstGeom>
        </p:spPr>
      </p:pic>
      <p:sp>
        <p:nvSpPr>
          <p:cNvPr id="4" name="Text 1"/>
          <p:cNvSpPr/>
          <p:nvPr/>
        </p:nvSpPr>
        <p:spPr>
          <a:xfrm>
            <a:off x="0" y="4818888"/>
            <a:ext cx="9144000" cy="138532"/>
          </a:xfrm>
          <a:prstGeom prst="rect">
            <a:avLst/>
          </a:prstGeom>
          <a:noFill/>
          <a:ln/>
        </p:spPr>
        <p:txBody>
          <a:bodyPr wrap="square" lIns="0" tIns="0" rIns="0" bIns="0" rtlCol="0" anchor="t"/>
          <a:lstStyle/>
          <a:p>
            <a:pPr algn="ctr" indent="0" marL="0">
              <a:buNone/>
            </a:pPr>
            <a:r>
              <a:rPr lang="en-US" sz="450" dirty="0">
                <a:solidFill>
                  <a:srgbClr val="E2E4EC"/>
                </a:solidFill>
                <a:latin typeface="Pretendard" pitchFamily="34" charset="0"/>
                <a:ea typeface="Pretendard" pitchFamily="34" charset="-122"/>
                <a:cs typeface="Pretendard" pitchFamily="34" charset="-120"/>
              </a:rPr>
              <a:t>© 2026, Amazon Web Services, Inc. or its affiliates. All rights reserved. Amazon Confidential and Trademark.</a:t>
            </a:r>
            <a:endParaRPr lang="en-US" sz="450" dirty="0"/>
          </a:p>
        </p:txBody>
      </p:sp>
      <p:sp>
        <p:nvSpPr>
          <p:cNvPr id="5" name="Text 2"/>
          <p:cNvSpPr/>
          <p:nvPr/>
        </p:nvSpPr>
        <p:spPr>
          <a:xfrm>
            <a:off x="8595360" y="4818888"/>
            <a:ext cx="182880" cy="164592"/>
          </a:xfrm>
          <a:prstGeom prst="rect">
            <a:avLst/>
          </a:prstGeom>
          <a:noFill/>
          <a:ln/>
        </p:spPr>
        <p:txBody>
          <a:bodyPr wrap="square" lIns="0" tIns="0" rIns="0" bIns="0" rtlCol="0" anchor="ctr"/>
          <a:lstStyle/>
          <a:p>
            <a:pPr algn="r" indent="0" marL="0">
              <a:buNone/>
            </a:pPr>
            <a:r>
              <a:rPr lang="en-US" sz="600" dirty="0">
                <a:solidFill>
                  <a:srgbClr val="E2E4EC"/>
                </a:solidFill>
                <a:latin typeface="Pretendard" pitchFamily="34" charset="0"/>
                <a:ea typeface="Pretendard" pitchFamily="34" charset="-122"/>
                <a:cs typeface="Pretendard" pitchFamily="34" charset="-120"/>
              </a:rPr>
              <a:t>13</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AI on AWS</dc:title>
  <dc:subject>PptxGenJS Presentation</dc:subject>
  <dc:creator>Youngjin Kim</dc:creator>
  <cp:lastModifiedBy>Youngjin Kim</cp:lastModifiedBy>
  <cp:revision>1</cp:revision>
  <dcterms:created xsi:type="dcterms:W3CDTF">2026-05-03T13:40:42Z</dcterms:created>
  <dcterms:modified xsi:type="dcterms:W3CDTF">2026-05-03T13:40:42Z</dcterms:modified>
</cp:coreProperties>
</file>